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Test accuracy (%)</c:v>
                </c:pt>
              </c:strCache>
            </c:strRef>
          </c:tx>
          <c:spPr>
            <a:solidFill>
              <a:srgbClr val="C45C26"/>
            </a:solidFill>
            <a:effectLst/>
          </c:spPr>
          <c:invertIfNegative val="0"/>
          <c:dLbls>
            <c:numFmt formatCode="#,##0" sourceLinked="0"/>
            <c:txPr>
              <a:bodyPr/>
              <a:lstStyle/>
              <a:p>
                <a:pPr>
                  <a:defRPr b="0" i="0" strike="noStrike" sz="1100" u="none">
                    <a:solidFill>
                      <a:srgbClr val="1F2428"/>
                    </a:solidFill>
                    <a:latin typeface="Calibri"/>
                  </a:defRPr>
                </a:pPr>
              </a:p>
            </c:txPr>
            <c:showLegendKey val="0"/>
            <c:showVal val="1"/>
            <c:showCatName val="0"/>
            <c:showSerName val="0"/>
            <c:showPercent val="0"/>
            <c:showBubbleSize val="0"/>
            <c:showLeaderLines val="0"/>
          </c:dLbls>
          <c:cat>
            <c:multiLvlStrRef>
              <c:f>Sheet1!$A$2:$A$9</c:f>
              <c:multiLvlStrCache>
                <c:ptCount val="8"/>
                <c:lvl>
                  <c:pt idx="0">
                    <c:v>KNN</c:v>
                  </c:pt>
                  <c:pt idx="1">
                    <c:v>Logistic</c:v>
                  </c:pt>
                  <c:pt idx="2">
                    <c:v>SVM pixels</c:v>
                  </c:pt>
                  <c:pt idx="3">
                    <c:v>MobileNet
frozen</c:v>
                  </c:pt>
                  <c:pt idx="4">
                    <c:v>MobileNet
unfrozen</c:v>
                  </c:pt>
                  <c:pt idx="5">
                    <c:v>MobileNet
+ aug</c:v>
                  </c:pt>
                  <c:pt idx="6">
                    <c:v>InceptionV3</c:v>
                  </c:pt>
                  <c:pt idx="7">
                    <c:v>SVM on
features</c:v>
                  </c:pt>
                </c:lvl>
              </c:multiLvlStrCache>
            </c:multiLvlStrRef>
          </c:cat>
          <c:val>
            <c:numRef>
              <c:f>Sheet1!$B$2:$B$9</c:f>
              <c:numCache>
                <c:formatCode>General</c:formatCode>
                <c:ptCount val="8"/>
                <c:pt idx="0">
                  <c:v>75.12</c:v>
                </c:pt>
                <c:pt idx="1">
                  <c:v>87.9</c:v>
                </c:pt>
                <c:pt idx="2">
                  <c:v>92.97</c:v>
                </c:pt>
                <c:pt idx="3">
                  <c:v>99.45</c:v>
                </c:pt>
                <c:pt idx="4">
                  <c:v>99.7</c:v>
                </c:pt>
                <c:pt idx="5">
                  <c:v>99.03</c:v>
                </c:pt>
                <c:pt idx="6">
                  <c:v>98.46</c:v>
                </c:pt>
                <c:pt idx="7">
                  <c:v>99.96</c:v>
                </c:pt>
              </c:numCache>
            </c:numRef>
          </c:val>
        </c:ser>
        <c:dLbls>
          <c:numFmt formatCode="#,##0" sourceLinked="0"/>
          <c:txPr>
            <a:bodyPr/>
            <a:lstStyle/>
            <a:p>
              <a:pPr>
                <a:defRPr b="0" i="0" strike="noStrike" sz="1100" u="none">
                  <a:solidFill>
                    <a:srgbClr val="1F2428"/>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42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F242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task, not the architecture. A photo in, damaged or undamaged out. The 99.70% is MobileNetV2 with the last blocks unfrozen, on the full test split. Do not call it 100%. Chance on this balanced set is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label before any model name. Class 0 undamaged, class 1 damaged, matching the paper. Stress that our photos are easier than PEER's.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we did not use PEER: the files are emailed after a form. We say that in the write-up. The interesting result is that the ranking changes because the photos got easier, not because we invented a better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32 by 32: say the number 150,528 and that SVM training builds a matrix of every training pair. We did not silently change the formula. We changed the resolution and wrote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in order. The unfrozen run is not a new network from scratch. It starts from the frozen weights. Say that, because a random head at learning rate 0.0001 would not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KNN is the weak flat model. Logistic and the pixel SVM already beat the paper's classical results by a lot. The four networks sit on top of each other. Do not rank Inception above MobileNet. The numbers go the other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Accuracy 75% sounds mediocre. The confusion matrix says the model almost refuses to say damaged. That is a property of nearest neighbours on a translated thin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Unfreezing helped by a quarter of a point. That is real and small. Augmentation hurt by about four tenths of a point. Do not claim the paper's bias story showed up. On this data the frozen network was already near the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claim we can defend. If the panel asks for the paper's 83%, say our number is higher because the pictures are cleaner, and point at the logistic learning curve as evidence that flat pixels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28"/>
        </a:solidFill>
      </p:bgPr>
    </p:bg>
    <p:spTree>
      <p:nvGrpSpPr>
        <p:cNvPr id="1" name=""/>
        <p:cNvGrpSpPr/>
        <p:nvPr/>
      </p:nvGrpSpPr>
      <p:grpSpPr>
        <a:xfrm>
          <a:off x="0" y="0"/>
          <a:ext cx="0" cy="0"/>
          <a:chOff x="0" y="0"/>
          <a:chExt cx="0" cy="0"/>
        </a:xfrm>
      </p:grpSpPr>
      <p:sp>
        <p:nvSpPr>
          <p:cNvPr id="2" name="Text 0"/>
          <p:cNvSpPr txBox="1"/>
          <p:nvPr/>
        </p:nvSpPr>
        <p:spPr>
          <a:xfrm>
            <a:off x="502920" y="1234440"/>
            <a:ext cx="7498080" cy="2011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Structural damage,</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from a photograph</a:t>
            </a:r>
            <a:endParaRPr lang="en-US" sz="4000" dirty="0"/>
          </a:p>
        </p:txBody>
      </p:sp>
      <p:sp>
        <p:nvSpPr>
          <p:cNvPr id="3" name="Text 1"/>
          <p:cNvSpPr txBox="1"/>
          <p:nvPr/>
        </p:nvSpPr>
        <p:spPr>
          <a:xfrm>
            <a:off x="502920" y="3429000"/>
            <a:ext cx="7315200" cy="320040"/>
          </a:xfrm>
          <a:prstGeom prst="rect">
            <a:avLst/>
          </a:prstGeom>
          <a:noFill/>
          <a:ln/>
        </p:spPr>
        <p:txBody>
          <a:bodyPr wrap="square" lIns="0" tIns="0" rIns="0" bIns="0" rtlCol="0" anchor="ctr"/>
          <a:lstStyle/>
          <a:p>
            <a:pPr indent="0" marL="0">
              <a:buNone/>
            </a:pPr>
            <a:r>
              <a:rPr lang="en-US" sz="1600" dirty="0">
                <a:solidFill>
                  <a:srgbClr val="D7D3CC"/>
                </a:solidFill>
                <a:latin typeface="Calibri" pitchFamily="34" charset="0"/>
                <a:ea typeface="Calibri" pitchFamily="34" charset="-122"/>
                <a:cs typeface="Calibri" pitchFamily="34" charset="-120"/>
              </a:rPr>
              <a:t>UE24CS352A  ·  Section C  ·  Team 16  ·  Project 31</a:t>
            </a:r>
            <a:endParaRPr lang="en-US" sz="1600" dirty="0"/>
          </a:p>
        </p:txBody>
      </p:sp>
      <p:sp>
        <p:nvSpPr>
          <p:cNvPr id="4" name="Text 2"/>
          <p:cNvSpPr txBox="1"/>
          <p:nvPr/>
        </p:nvSpPr>
        <p:spPr>
          <a:xfrm>
            <a:off x="502920" y="3931920"/>
            <a:ext cx="6400800" cy="7315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Dhruva Myakeri  (PES1UG24CS156)</a:t>
            </a: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Navya Suresh  (PES1UG24CS904)</a:t>
            </a:r>
            <a:endParaRPr lang="en-US" sz="1800" dirty="0"/>
          </a:p>
        </p:txBody>
      </p:sp>
      <p:sp>
        <p:nvSpPr>
          <p:cNvPr id="5" name="Text 3"/>
          <p:cNvSpPr txBox="1"/>
          <p:nvPr/>
        </p:nvSpPr>
        <p:spPr>
          <a:xfrm>
            <a:off x="502920" y="5989320"/>
            <a:ext cx="6400800" cy="320040"/>
          </a:xfrm>
          <a:prstGeom prst="rect">
            <a:avLst/>
          </a:prstGeom>
          <a:noFill/>
          <a:ln/>
        </p:spPr>
        <p:txBody>
          <a:bodyPr wrap="square" lIns="0" tIns="0" rIns="0" bIns="0" rtlCol="0" anchor="ctr"/>
          <a:lstStyle/>
          <a:p>
            <a:pPr indent="0" marL="0">
              <a:buNone/>
            </a:pPr>
            <a:r>
              <a:rPr lang="en-US" sz="1400" dirty="0">
                <a:solidFill>
                  <a:srgbClr val="A8B0B6"/>
                </a:solidFill>
                <a:latin typeface="Calibri" pitchFamily="34" charset="0"/>
                <a:ea typeface="Calibri" pitchFamily="34" charset="-122"/>
                <a:cs typeface="Calibri" pitchFamily="34" charset="-120"/>
              </a:rPr>
              <a:t>Following Ho and Troncoso, CS229 2018</a:t>
            </a:r>
            <a:endParaRPr lang="en-US" sz="1400" dirty="0"/>
          </a:p>
        </p:txBody>
      </p:sp>
      <p:sp>
        <p:nvSpPr>
          <p:cNvPr id="6" name="Shape 4"/>
          <p:cNvSpPr/>
          <p:nvPr/>
        </p:nvSpPr>
        <p:spPr>
          <a:xfrm>
            <a:off x="8366760" y="1554480"/>
            <a:ext cx="3246120" cy="3291840"/>
          </a:xfrm>
          <a:prstGeom prst="roundRect">
            <a:avLst>
              <a:gd name="adj" fmla="val 2254"/>
            </a:avLst>
          </a:prstGeom>
          <a:solidFill>
            <a:srgbClr val="2A3136"/>
          </a:solidFill>
          <a:ln/>
        </p:spPr>
      </p:sp>
      <p:sp>
        <p:nvSpPr>
          <p:cNvPr id="7" name="Text 5"/>
          <p:cNvSpPr txBox="1"/>
          <p:nvPr/>
        </p:nvSpPr>
        <p:spPr>
          <a:xfrm>
            <a:off x="8549640" y="1965960"/>
            <a:ext cx="2880360" cy="1005840"/>
          </a:xfrm>
          <a:prstGeom prst="rect">
            <a:avLst/>
          </a:prstGeom>
          <a:noFill/>
          <a:ln/>
        </p:spPr>
        <p:txBody>
          <a:bodyPr wrap="square" lIns="0" tIns="0" rIns="0" bIns="0" rtlCol="0" anchor="ctr"/>
          <a:lstStyle/>
          <a:p>
            <a:pPr algn="ctr" indent="0" marL="0">
              <a:buNone/>
            </a:pPr>
            <a:r>
              <a:rPr lang="en-US" sz="4200" b="1" dirty="0">
                <a:solidFill>
                  <a:srgbClr val="E7B89A"/>
                </a:solidFill>
                <a:latin typeface="Cambria" pitchFamily="34" charset="0"/>
                <a:ea typeface="Cambria" pitchFamily="34" charset="-122"/>
                <a:cs typeface="Cambria" pitchFamily="34" charset="-120"/>
              </a:rPr>
              <a:t>99.70%</a:t>
            </a:r>
            <a:endParaRPr lang="en-US" sz="4200" dirty="0"/>
          </a:p>
        </p:txBody>
      </p:sp>
      <p:sp>
        <p:nvSpPr>
          <p:cNvPr id="8" name="Text 6"/>
          <p:cNvSpPr txBox="1"/>
          <p:nvPr/>
        </p:nvSpPr>
        <p:spPr>
          <a:xfrm>
            <a:off x="8595360" y="3063240"/>
            <a:ext cx="2788920" cy="137160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test accuracy</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best network</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on all 8,000</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test photos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7315200" cy="502920"/>
          </a:xfrm>
          <a:prstGeom prst="rect">
            <a:avLst/>
          </a:prstGeom>
          <a:noFill/>
          <a:ln/>
        </p:spPr>
        <p:txBody>
          <a:bodyPr wrap="square" lIns="0" tIns="0" rIns="0" bIns="0" rtlCol="0" anchor="ctr"/>
          <a:lstStyle/>
          <a:p>
            <a:pPr indent="0" marL="0">
              <a:buNone/>
            </a:pPr>
            <a:r>
              <a:rPr lang="en-US" sz="3200" b="1" dirty="0">
                <a:solidFill>
                  <a:srgbClr val="1F2428"/>
                </a:solidFill>
                <a:latin typeface="Cambria" pitchFamily="34" charset="0"/>
                <a:ea typeface="Cambria" pitchFamily="34" charset="-122"/>
                <a:cs typeface="Cambria" pitchFamily="34" charset="-120"/>
              </a:rPr>
              <a:t>The decision</a:t>
            </a:r>
            <a:endParaRPr lang="en-US" sz="3200" dirty="0"/>
          </a:p>
        </p:txBody>
      </p:sp>
      <p:sp>
        <p:nvSpPr>
          <p:cNvPr id="3" name="Text 1"/>
          <p:cNvSpPr txBox="1"/>
          <p:nvPr/>
        </p:nvSpPr>
        <p:spPr>
          <a:xfrm>
            <a:off x="457200" y="960120"/>
            <a:ext cx="10972800" cy="365760"/>
          </a:xfrm>
          <a:prstGeom prst="rect">
            <a:avLst/>
          </a:prstGeom>
          <a:noFill/>
          <a:ln/>
        </p:spPr>
        <p:txBody>
          <a:bodyPr wrap="square" lIns="0" tIns="0" rIns="0" bIns="0" rtlCol="0" anchor="ctr"/>
          <a:lstStyle/>
          <a:p>
            <a:pPr indent="0" marL="0">
              <a:buNone/>
            </a:pPr>
            <a:r>
              <a:rPr lang="en-US" sz="1600" dirty="0">
                <a:solidFill>
                  <a:srgbClr val="5C656B"/>
                </a:solidFill>
                <a:latin typeface="Calibri" pitchFamily="34" charset="0"/>
                <a:ea typeface="Calibri" pitchFamily="34" charset="-122"/>
                <a:cs typeface="Calibri" pitchFamily="34" charset="-120"/>
              </a:rPr>
              <a:t>After an earthquake, which structures are damaged, without walking every street.</a:t>
            </a:r>
            <a:endParaRPr lang="en-US" sz="1600" dirty="0"/>
          </a:p>
        </p:txBody>
      </p:sp>
      <p:sp>
        <p:nvSpPr>
          <p:cNvPr id="4" name="Shape 2"/>
          <p:cNvSpPr/>
          <p:nvPr/>
        </p:nvSpPr>
        <p:spPr>
          <a:xfrm>
            <a:off x="457200" y="1600200"/>
            <a:ext cx="5486400" cy="4297680"/>
          </a:xfrm>
          <a:prstGeom prst="roundRect">
            <a:avLst>
              <a:gd name="adj" fmla="val 1702"/>
            </a:avLst>
          </a:prstGeom>
          <a:solidFill>
            <a:srgbClr val="F7F1EC"/>
          </a:solidFill>
          <a:ln/>
        </p:spPr>
      </p:sp>
      <p:sp>
        <p:nvSpPr>
          <p:cNvPr id="5" name="Text 3"/>
          <p:cNvSpPr txBox="1"/>
          <p:nvPr/>
        </p:nvSpPr>
        <p:spPr>
          <a:xfrm>
            <a:off x="685800" y="1828800"/>
            <a:ext cx="5029200" cy="320040"/>
          </a:xfrm>
          <a:prstGeom prst="rect">
            <a:avLst/>
          </a:prstGeom>
          <a:noFill/>
          <a:ln/>
        </p:spPr>
        <p:txBody>
          <a:bodyPr wrap="square" lIns="0" tIns="0" rIns="0" bIns="0" rtlCol="0" anchor="ctr"/>
          <a:lstStyle/>
          <a:p>
            <a:pPr indent="0" marL="0">
              <a:buNone/>
            </a:pPr>
            <a:r>
              <a:rPr lang="en-US" sz="1400" b="1" dirty="0">
                <a:solidFill>
                  <a:srgbClr val="C45C26"/>
                </a:solidFill>
                <a:latin typeface="Calibri" pitchFamily="34" charset="0"/>
                <a:ea typeface="Calibri" pitchFamily="34" charset="-122"/>
                <a:cs typeface="Calibri" pitchFamily="34" charset="-120"/>
              </a:rPr>
              <a:t>Class 1</a:t>
            </a:r>
            <a:endParaRPr lang="en-US" sz="1400" dirty="0"/>
          </a:p>
        </p:txBody>
      </p:sp>
      <p:sp>
        <p:nvSpPr>
          <p:cNvPr id="6" name="Text 4"/>
          <p:cNvSpPr txBox="1"/>
          <p:nvPr/>
        </p:nvSpPr>
        <p:spPr>
          <a:xfrm>
            <a:off x="685800" y="2194560"/>
            <a:ext cx="5029200" cy="548640"/>
          </a:xfrm>
          <a:prstGeom prst="rect">
            <a:avLst/>
          </a:prstGeom>
          <a:noFill/>
          <a:ln/>
        </p:spPr>
        <p:txBody>
          <a:bodyPr wrap="square" lIns="0" tIns="0" rIns="0" bIns="0" rtlCol="0" anchor="ctr"/>
          <a:lstStyle/>
          <a:p>
            <a:pPr indent="0" marL="0">
              <a:buNone/>
            </a:pPr>
            <a:r>
              <a:rPr lang="en-US" sz="3200" b="1" dirty="0">
                <a:solidFill>
                  <a:srgbClr val="1F2428"/>
                </a:solidFill>
                <a:latin typeface="Cambria" pitchFamily="34" charset="0"/>
                <a:ea typeface="Cambria" pitchFamily="34" charset="-122"/>
                <a:cs typeface="Cambria" pitchFamily="34" charset="-120"/>
              </a:rPr>
              <a:t>Damaged</a:t>
            </a:r>
            <a:endParaRPr lang="en-US" sz="3200" dirty="0"/>
          </a:p>
        </p:txBody>
      </p:sp>
      <p:sp>
        <p:nvSpPr>
          <p:cNvPr id="7" name="Text 5"/>
          <p:cNvSpPr txBox="1"/>
          <p:nvPr/>
        </p:nvSpPr>
        <p:spPr>
          <a:xfrm>
            <a:off x="685800" y="2926080"/>
            <a:ext cx="4937760" cy="237744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In the paper: cracks through to a levelled building, plus clutter, blur, and some wrong labels.</a:t>
            </a:r>
            <a:endParaRPr lang="en-US" sz="1600" dirty="0"/>
          </a:p>
          <a:p>
            <a:pPr indent="0" marL="0">
              <a:buNone/>
            </a:pPr>
            <a:endParaRPr lang="en-US" sz="1600" dirty="0"/>
          </a:p>
          <a:p>
            <a:pPr indent="0" marL="0">
              <a:buNone/>
            </a:pPr>
            <a:r>
              <a:rPr lang="en-US" sz="1600" dirty="0">
                <a:solidFill>
                  <a:srgbClr val="1F2428"/>
                </a:solidFill>
                <a:latin typeface="Calibri" pitchFamily="34" charset="0"/>
                <a:ea typeface="Calibri" pitchFamily="34" charset="-122"/>
                <a:cs typeface="Calibri" pitchFamily="34" charset="-120"/>
              </a:rPr>
              <a:t>In this run: a close-up of concrete with a crack. Same label, narrower picture.</a:t>
            </a:r>
            <a:endParaRPr lang="en-US" sz="1600" dirty="0"/>
          </a:p>
        </p:txBody>
      </p:sp>
      <p:sp>
        <p:nvSpPr>
          <p:cNvPr id="8" name="Shape 6"/>
          <p:cNvSpPr/>
          <p:nvPr/>
        </p:nvSpPr>
        <p:spPr>
          <a:xfrm>
            <a:off x="6217920" y="1600200"/>
            <a:ext cx="5486400" cy="4297680"/>
          </a:xfrm>
          <a:prstGeom prst="roundRect">
            <a:avLst>
              <a:gd name="adj" fmla="val 1702"/>
            </a:avLst>
          </a:prstGeom>
          <a:solidFill>
            <a:srgbClr val="E7F0F2"/>
          </a:solidFill>
          <a:ln/>
        </p:spPr>
      </p:sp>
      <p:sp>
        <p:nvSpPr>
          <p:cNvPr id="9" name="Text 7"/>
          <p:cNvSpPr txBox="1"/>
          <p:nvPr/>
        </p:nvSpPr>
        <p:spPr>
          <a:xfrm>
            <a:off x="6446520" y="1828800"/>
            <a:ext cx="5029200" cy="320040"/>
          </a:xfrm>
          <a:prstGeom prst="rect">
            <a:avLst/>
          </a:prstGeom>
          <a:noFill/>
          <a:ln/>
        </p:spPr>
        <p:txBody>
          <a:bodyPr wrap="square" lIns="0" tIns="0" rIns="0" bIns="0" rtlCol="0" anchor="ctr"/>
          <a:lstStyle/>
          <a:p>
            <a:pPr indent="0" marL="0">
              <a:buNone/>
            </a:pPr>
            <a:r>
              <a:rPr lang="en-US" sz="1400" b="1" dirty="0">
                <a:solidFill>
                  <a:srgbClr val="1F4E5F"/>
                </a:solidFill>
                <a:latin typeface="Calibri" pitchFamily="34" charset="0"/>
                <a:ea typeface="Calibri" pitchFamily="34" charset="-122"/>
                <a:cs typeface="Calibri" pitchFamily="34" charset="-120"/>
              </a:rPr>
              <a:t>Class 0</a:t>
            </a:r>
            <a:endParaRPr lang="en-US" sz="1400" dirty="0"/>
          </a:p>
        </p:txBody>
      </p:sp>
      <p:sp>
        <p:nvSpPr>
          <p:cNvPr id="10" name="Text 8"/>
          <p:cNvSpPr txBox="1"/>
          <p:nvPr/>
        </p:nvSpPr>
        <p:spPr>
          <a:xfrm>
            <a:off x="6446520" y="2194560"/>
            <a:ext cx="5029200" cy="548640"/>
          </a:xfrm>
          <a:prstGeom prst="rect">
            <a:avLst/>
          </a:prstGeom>
          <a:noFill/>
          <a:ln/>
        </p:spPr>
        <p:txBody>
          <a:bodyPr wrap="square" lIns="0" tIns="0" rIns="0" bIns="0" rtlCol="0" anchor="ctr"/>
          <a:lstStyle/>
          <a:p>
            <a:pPr indent="0" marL="0">
              <a:buNone/>
            </a:pPr>
            <a:r>
              <a:rPr lang="en-US" sz="3200" b="1" dirty="0">
                <a:solidFill>
                  <a:srgbClr val="1F2428"/>
                </a:solidFill>
                <a:latin typeface="Cambria" pitchFamily="34" charset="0"/>
                <a:ea typeface="Cambria" pitchFamily="34" charset="-122"/>
                <a:cs typeface="Cambria" pitchFamily="34" charset="-120"/>
              </a:rPr>
              <a:t>Undamaged</a:t>
            </a:r>
            <a:endParaRPr lang="en-US" sz="3200" dirty="0"/>
          </a:p>
        </p:txBody>
      </p:sp>
      <p:sp>
        <p:nvSpPr>
          <p:cNvPr id="11" name="Text 9"/>
          <p:cNvSpPr txBox="1"/>
          <p:nvPr/>
        </p:nvSpPr>
        <p:spPr>
          <a:xfrm>
            <a:off x="6446520" y="2926080"/>
            <a:ext cx="4937760" cy="237744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In the paper: about 54% of 5,913 photos, so a lazy guess of undamaged scores about 54%.</a:t>
            </a:r>
            <a:endParaRPr lang="en-US" sz="1600" dirty="0"/>
          </a:p>
          <a:p>
            <a:pPr indent="0" marL="0">
              <a:buNone/>
            </a:pPr>
            <a:endParaRPr lang="en-US" sz="1600" dirty="0"/>
          </a:p>
          <a:p>
            <a:pPr indent="0" marL="0">
              <a:buNone/>
            </a:pPr>
            <a:r>
              <a:rPr lang="en-US" sz="1600" dirty="0">
                <a:solidFill>
                  <a:srgbClr val="1F2428"/>
                </a:solidFill>
                <a:latin typeface="Calibri" pitchFamily="34" charset="0"/>
                <a:ea typeface="Calibri" pitchFamily="34" charset="-122"/>
                <a:cs typeface="Calibri" pitchFamily="34" charset="-120"/>
              </a:rPr>
              <a:t>In this run: exactly half of every split. A lazy guess scores 50%. Anything we report has to clear that.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972800" cy="457200"/>
          </a:xfrm>
          <a:prstGeom prst="rect">
            <a:avLst/>
          </a:prstGeom>
          <a:noFill/>
          <a:ln/>
        </p:spPr>
        <p:txBody>
          <a:bodyPr wrap="square" lIns="0" tIns="0" rIns="0" bIns="0" rtlCol="0" anchor="ctr"/>
          <a:lstStyle/>
          <a:p>
            <a:pPr indent="0" marL="0">
              <a:buNone/>
            </a:pPr>
            <a:r>
              <a:rPr lang="en-US" sz="3200" b="1" dirty="0">
                <a:solidFill>
                  <a:srgbClr val="1F2428"/>
                </a:solidFill>
                <a:latin typeface="Cambria" pitchFamily="34" charset="0"/>
                <a:ea typeface="Cambria" pitchFamily="34" charset="-122"/>
                <a:cs typeface="Cambria" pitchFamily="34" charset="-120"/>
              </a:rPr>
              <a:t>Same question, different photos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47120" cy="4754880"/>
        </p:xfrm>
        <a:graphic>
          <a:graphicData uri="http://schemas.openxmlformats.org/drawingml/2006/table">
            <a:tbl>
              <a:tblPr/>
              <a:tblGrid>
                <a:gridCol w="2834640"/>
                <a:gridCol w="4206240"/>
                <a:gridCol w="4206240"/>
              </a:tblGrid>
              <a:tr h="792480">
                <a:tc>
                  <a:txBody>
                    <a:bodyPr/>
                    <a:lstStyle/>
                    <a:p>
                      <a:pPr algn="l" indent="0" marL="0">
                        <a:buNone/>
                      </a:pP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E5F"/>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Ho and Troncoso, 2018</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E5F"/>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This run</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4E5F"/>
                    </a:solidFill>
                  </a:tcPr>
                </a:tc>
              </a:tr>
              <a:tr h="792480">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Photos</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PEER Hub ImageNet, 5,913</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Concrete crack close-ups, 40,000</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792480">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What 'damaged' looks like</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Crack, spall, or collapse, plus clutter</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A crack on otherwise plain concrete</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792480">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Split</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90% train, 10% called both val and test</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Official train, validation, and test</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792480">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Flat-vector models</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Validation near 51% to 55%</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Test 75% to 93% on 32 by 32 pixels</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792480">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Best reported network</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InceptionV3, 83% validation</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l" indent="0" marL="0">
                        <a:buNone/>
                      </a:pPr>
                      <a:r>
                        <a:rPr lang="en-US" sz="1500" dirty="0">
                          <a:solidFill>
                            <a:srgbClr val="1F2428"/>
                          </a:solidFill>
                          <a:latin typeface="Calibri" pitchFamily="34" charset="0"/>
                          <a:ea typeface="Calibri" pitchFamily="34" charset="-122"/>
                          <a:cs typeface="Calibri" pitchFamily="34" charset="-120"/>
                        </a:rPr>
                        <a:t>MobileNetV2 unfrozen, 99.70% test</a:t>
                      </a:r>
                      <a:endParaRPr lang="en-US" sz="15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0972800" cy="457200"/>
          </a:xfrm>
          <a:prstGeom prst="rect">
            <a:avLst/>
          </a:prstGeom>
          <a:noFill/>
          <a:ln/>
        </p:spPr>
        <p:txBody>
          <a:bodyPr wrap="square" lIns="0" tIns="0" rIns="0" bIns="0" rtlCol="0" anchor="ctr"/>
          <a:lstStyle/>
          <a:p>
            <a:pPr indent="0" marL="0">
              <a:buNone/>
            </a:pPr>
            <a:r>
              <a:rPr lang="en-US" sz="2800" b="1" dirty="0">
                <a:solidFill>
                  <a:srgbClr val="1F2428"/>
                </a:solidFill>
                <a:latin typeface="Cambria" pitchFamily="34" charset="0"/>
                <a:ea typeface="Cambria" pitchFamily="34" charset="-122"/>
                <a:cs typeface="Cambria" pitchFamily="34" charset="-120"/>
              </a:rPr>
              <a:t>How many photos, and which ones the models saw</a:t>
            </a:r>
            <a:endParaRPr lang="en-US" sz="2800" dirty="0"/>
          </a:p>
        </p:txBody>
      </p:sp>
      <p:sp>
        <p:nvSpPr>
          <p:cNvPr id="3" name="Shape 1"/>
          <p:cNvSpPr/>
          <p:nvPr/>
        </p:nvSpPr>
        <p:spPr>
          <a:xfrm>
            <a:off x="457200" y="1097280"/>
            <a:ext cx="3611880" cy="2286000"/>
          </a:xfrm>
          <a:prstGeom prst="roundRect">
            <a:avLst>
              <a:gd name="adj" fmla="val 3200"/>
            </a:avLst>
          </a:prstGeom>
          <a:solidFill>
            <a:srgbClr val="F3F5F6"/>
          </a:solidFill>
          <a:ln/>
        </p:spPr>
      </p:sp>
      <p:sp>
        <p:nvSpPr>
          <p:cNvPr id="4" name="Text 2"/>
          <p:cNvSpPr txBox="1"/>
          <p:nvPr/>
        </p:nvSpPr>
        <p:spPr>
          <a:xfrm>
            <a:off x="640080" y="1280160"/>
            <a:ext cx="3246120" cy="640080"/>
          </a:xfrm>
          <a:prstGeom prst="rect">
            <a:avLst/>
          </a:prstGeom>
          <a:noFill/>
          <a:ln/>
        </p:spPr>
        <p:txBody>
          <a:bodyPr wrap="square" lIns="0" tIns="0" rIns="0" bIns="0" rtlCol="0" anchor="ctr"/>
          <a:lstStyle/>
          <a:p>
            <a:pPr indent="0" marL="0">
              <a:buNone/>
            </a:pPr>
            <a:r>
              <a:rPr lang="en-US" sz="2200" b="1" dirty="0">
                <a:solidFill>
                  <a:srgbClr val="1F4E5F"/>
                </a:solidFill>
                <a:latin typeface="Cambria" pitchFamily="34" charset="0"/>
                <a:ea typeface="Cambria" pitchFamily="34" charset="-122"/>
                <a:cs typeface="Cambria" pitchFamily="34" charset="-120"/>
              </a:rPr>
              <a:t>12,000 + 12,000</a:t>
            </a:r>
            <a:endParaRPr lang="en-US" sz="2200" dirty="0"/>
          </a:p>
        </p:txBody>
      </p:sp>
      <p:sp>
        <p:nvSpPr>
          <p:cNvPr id="5" name="Text 3"/>
          <p:cNvSpPr txBox="1"/>
          <p:nvPr/>
        </p:nvSpPr>
        <p:spPr>
          <a:xfrm>
            <a:off x="640080" y="2011680"/>
            <a:ext cx="3246120" cy="100584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Training archive</a:t>
            </a:r>
            <a:endParaRPr lang="en-US" sz="1600" dirty="0"/>
          </a:p>
          <a:p>
            <a:pPr indent="0" marL="0">
              <a:buNone/>
            </a:pPr>
            <a:r>
              <a:rPr lang="en-US" sz="1600" dirty="0">
                <a:solidFill>
                  <a:srgbClr val="1F2428"/>
                </a:solidFill>
                <a:latin typeface="Calibri" pitchFamily="34" charset="0"/>
                <a:ea typeface="Calibri" pitchFamily="34" charset="-122"/>
                <a:cs typeface="Calibri" pitchFamily="34" charset="-120"/>
              </a:rPr>
              <a:t>undamaged + damaged</a:t>
            </a:r>
            <a:endParaRPr lang="en-US" sz="1600" dirty="0"/>
          </a:p>
        </p:txBody>
      </p:sp>
      <p:sp>
        <p:nvSpPr>
          <p:cNvPr id="6" name="Shape 4"/>
          <p:cNvSpPr/>
          <p:nvPr/>
        </p:nvSpPr>
        <p:spPr>
          <a:xfrm>
            <a:off x="4297680" y="1097280"/>
            <a:ext cx="3611880" cy="2286000"/>
          </a:xfrm>
          <a:prstGeom prst="roundRect">
            <a:avLst>
              <a:gd name="adj" fmla="val 3200"/>
            </a:avLst>
          </a:prstGeom>
          <a:solidFill>
            <a:srgbClr val="F3F5F6"/>
          </a:solidFill>
          <a:ln/>
        </p:spPr>
      </p:sp>
      <p:sp>
        <p:nvSpPr>
          <p:cNvPr id="7" name="Text 5"/>
          <p:cNvSpPr txBox="1"/>
          <p:nvPr/>
        </p:nvSpPr>
        <p:spPr>
          <a:xfrm>
            <a:off x="4480560" y="1280160"/>
            <a:ext cx="3246120" cy="640080"/>
          </a:xfrm>
          <a:prstGeom prst="rect">
            <a:avLst/>
          </a:prstGeom>
          <a:noFill/>
          <a:ln/>
        </p:spPr>
        <p:txBody>
          <a:bodyPr wrap="square" lIns="0" tIns="0" rIns="0" bIns="0" rtlCol="0" anchor="ctr"/>
          <a:lstStyle/>
          <a:p>
            <a:pPr indent="0" marL="0">
              <a:buNone/>
            </a:pPr>
            <a:r>
              <a:rPr lang="en-US" sz="2200" b="1" dirty="0">
                <a:solidFill>
                  <a:srgbClr val="1F4E5F"/>
                </a:solidFill>
                <a:latin typeface="Cambria" pitchFamily="34" charset="0"/>
                <a:ea typeface="Cambria" pitchFamily="34" charset="-122"/>
                <a:cs typeface="Cambria" pitchFamily="34" charset="-120"/>
              </a:rPr>
              <a:t>4,000 + 4,000</a:t>
            </a:r>
            <a:endParaRPr lang="en-US" sz="2200" dirty="0"/>
          </a:p>
        </p:txBody>
      </p:sp>
      <p:sp>
        <p:nvSpPr>
          <p:cNvPr id="8" name="Text 6"/>
          <p:cNvSpPr txBox="1"/>
          <p:nvPr/>
        </p:nvSpPr>
        <p:spPr>
          <a:xfrm>
            <a:off x="4480560" y="2011680"/>
            <a:ext cx="3246120" cy="100584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Validation archive</a:t>
            </a:r>
            <a:endParaRPr lang="en-US" sz="1600" dirty="0"/>
          </a:p>
          <a:p>
            <a:pPr indent="0" marL="0">
              <a:buNone/>
            </a:pPr>
            <a:r>
              <a:rPr lang="en-US" sz="1600" dirty="0">
                <a:solidFill>
                  <a:srgbClr val="1F2428"/>
                </a:solidFill>
                <a:latin typeface="Calibri" pitchFamily="34" charset="0"/>
                <a:ea typeface="Calibri" pitchFamily="34" charset="-122"/>
                <a:cs typeface="Calibri" pitchFamily="34" charset="-120"/>
              </a:rPr>
              <a:t>used to pick the demo model</a:t>
            </a:r>
            <a:endParaRPr lang="en-US" sz="1600" dirty="0"/>
          </a:p>
        </p:txBody>
      </p:sp>
      <p:sp>
        <p:nvSpPr>
          <p:cNvPr id="9" name="Shape 7"/>
          <p:cNvSpPr/>
          <p:nvPr/>
        </p:nvSpPr>
        <p:spPr>
          <a:xfrm>
            <a:off x="8138160" y="1097280"/>
            <a:ext cx="3611880" cy="2286000"/>
          </a:xfrm>
          <a:prstGeom prst="roundRect">
            <a:avLst>
              <a:gd name="adj" fmla="val 3200"/>
            </a:avLst>
          </a:prstGeom>
          <a:solidFill>
            <a:srgbClr val="F3F5F6"/>
          </a:solidFill>
          <a:ln/>
        </p:spPr>
      </p:sp>
      <p:sp>
        <p:nvSpPr>
          <p:cNvPr id="10" name="Text 8"/>
          <p:cNvSpPr txBox="1"/>
          <p:nvPr/>
        </p:nvSpPr>
        <p:spPr>
          <a:xfrm>
            <a:off x="8321040" y="1280160"/>
            <a:ext cx="3246120" cy="640080"/>
          </a:xfrm>
          <a:prstGeom prst="rect">
            <a:avLst/>
          </a:prstGeom>
          <a:noFill/>
          <a:ln/>
        </p:spPr>
        <p:txBody>
          <a:bodyPr wrap="square" lIns="0" tIns="0" rIns="0" bIns="0" rtlCol="0" anchor="ctr"/>
          <a:lstStyle/>
          <a:p>
            <a:pPr indent="0" marL="0">
              <a:buNone/>
            </a:pPr>
            <a:r>
              <a:rPr lang="en-US" sz="2200" b="1" dirty="0">
                <a:solidFill>
                  <a:srgbClr val="1F4E5F"/>
                </a:solidFill>
                <a:latin typeface="Cambria" pitchFamily="34" charset="0"/>
                <a:ea typeface="Cambria" pitchFamily="34" charset="-122"/>
                <a:cs typeface="Cambria" pitchFamily="34" charset="-120"/>
              </a:rPr>
              <a:t>4,000 + 4,000</a:t>
            </a:r>
            <a:endParaRPr lang="en-US" sz="2200" dirty="0"/>
          </a:p>
        </p:txBody>
      </p:sp>
      <p:sp>
        <p:nvSpPr>
          <p:cNvPr id="11" name="Text 9"/>
          <p:cNvSpPr txBox="1"/>
          <p:nvPr/>
        </p:nvSpPr>
        <p:spPr>
          <a:xfrm>
            <a:off x="8321040" y="2011680"/>
            <a:ext cx="3246120" cy="100584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Test archive</a:t>
            </a:r>
            <a:endParaRPr lang="en-US" sz="1600" dirty="0"/>
          </a:p>
          <a:p>
            <a:pPr indent="0" marL="0">
              <a:buNone/>
            </a:pPr>
            <a:r>
              <a:rPr lang="en-US" sz="1600" dirty="0">
                <a:solidFill>
                  <a:srgbClr val="1F2428"/>
                </a:solidFill>
                <a:latin typeface="Calibri" pitchFamily="34" charset="0"/>
                <a:ea typeface="Calibri" pitchFamily="34" charset="-122"/>
                <a:cs typeface="Calibri" pitchFamily="34" charset="-120"/>
              </a:rPr>
              <a:t>not used to pick anything</a:t>
            </a:r>
            <a:endParaRPr lang="en-US" sz="1600" dirty="0"/>
          </a:p>
        </p:txBody>
      </p:sp>
      <p:sp>
        <p:nvSpPr>
          <p:cNvPr id="12" name="Text 10"/>
          <p:cNvSpPr txBox="1"/>
          <p:nvPr/>
        </p:nvSpPr>
        <p:spPr>
          <a:xfrm>
            <a:off x="457200" y="3703320"/>
            <a:ext cx="11247120" cy="137160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Not every model sees the whole archive. Flat-pixel models train on 1,500 per class at 32 by 32, because a full-resolution vector is 150,528 numbers and an RBF kernel on that is not practical. Networks train on 3,000 per class and are scored on all 8,000 validation and 8,000 test photos. The feature SVM is scored on 2,400 test photos. Quote the count with the percentage.</a:t>
            </a:r>
            <a:endParaRPr lang="en-US" sz="1600" dirty="0"/>
          </a:p>
        </p:txBody>
      </p:sp>
      <p:sp>
        <p:nvSpPr>
          <p:cNvPr id="13" name="Text 11"/>
          <p:cNvSpPr txBox="1"/>
          <p:nvPr/>
        </p:nvSpPr>
        <p:spPr>
          <a:xfrm>
            <a:off x="457200" y="5120640"/>
            <a:ext cx="11247120" cy="109728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Pixels for the flat models are mapped with (pixel / 128) - 1, the paper's formula. Network inputs use ImageNet mean and standard deviation, because that is what the downloaded weights expect.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0972800" cy="457200"/>
          </a:xfrm>
          <a:prstGeom prst="rect">
            <a:avLst/>
          </a:prstGeom>
          <a:noFill/>
          <a:ln/>
        </p:spPr>
        <p:txBody>
          <a:bodyPr wrap="square" lIns="0" tIns="0" rIns="0" bIns="0" rtlCol="0" anchor="ctr"/>
          <a:lstStyle/>
          <a:p>
            <a:pPr indent="0" marL="0">
              <a:buNone/>
            </a:pPr>
            <a:r>
              <a:rPr lang="en-US" sz="3200" b="1" dirty="0">
                <a:solidFill>
                  <a:srgbClr val="1F2428"/>
                </a:solidFill>
                <a:latin typeface="Cambria" pitchFamily="34" charset="0"/>
                <a:ea typeface="Cambria" pitchFamily="34" charset="-122"/>
                <a:cs typeface="Cambria" pitchFamily="34" charset="-120"/>
              </a:rPr>
              <a:t>Eight models, one comparison</a:t>
            </a:r>
            <a:endParaRPr lang="en-US" sz="3200" dirty="0"/>
          </a:p>
        </p:txBody>
      </p:sp>
      <p:sp>
        <p:nvSpPr>
          <p:cNvPr id="3" name="Shape 1"/>
          <p:cNvSpPr/>
          <p:nvPr/>
        </p:nvSpPr>
        <p:spPr>
          <a:xfrm>
            <a:off x="457200" y="960120"/>
            <a:ext cx="640080" cy="640080"/>
          </a:xfrm>
          <a:prstGeom prst="roundRect">
            <a:avLst>
              <a:gd name="adj" fmla="val 11429"/>
            </a:avLst>
          </a:prstGeom>
          <a:solidFill>
            <a:srgbClr val="1F4E5F"/>
          </a:solidFill>
          <a:ln/>
        </p:spPr>
      </p:sp>
      <p:sp>
        <p:nvSpPr>
          <p:cNvPr id="4" name="Text 2"/>
          <p:cNvSpPr txBox="1"/>
          <p:nvPr/>
        </p:nvSpPr>
        <p:spPr>
          <a:xfrm>
            <a:off x="457200" y="1069848"/>
            <a:ext cx="6400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1325880" y="960120"/>
            <a:ext cx="2926080" cy="640080"/>
          </a:xfrm>
          <a:prstGeom prst="rect">
            <a:avLst/>
          </a:prstGeom>
          <a:noFill/>
          <a:ln/>
        </p:spPr>
        <p:txBody>
          <a:bodyPr wrap="square" lIns="0" tIns="0" rIns="0" bIns="0" rtlCol="0" anchor="ctr"/>
          <a:lstStyle/>
          <a:p>
            <a:pPr indent="0" marL="0">
              <a:buNone/>
            </a:pPr>
            <a:r>
              <a:rPr lang="en-US" sz="1800" b="1" dirty="0">
                <a:solidFill>
                  <a:srgbClr val="1F2428"/>
                </a:solidFill>
                <a:latin typeface="Calibri" pitchFamily="34" charset="0"/>
                <a:ea typeface="Calibri" pitchFamily="34" charset="-122"/>
                <a:cs typeface="Calibri" pitchFamily="34" charset="-120"/>
              </a:rPr>
              <a:t>Flat pixels</a:t>
            </a:r>
            <a:endParaRPr lang="en-US" sz="1800" dirty="0"/>
          </a:p>
        </p:txBody>
      </p:sp>
      <p:sp>
        <p:nvSpPr>
          <p:cNvPr id="6" name="Text 4"/>
          <p:cNvSpPr txBox="1"/>
          <p:nvPr/>
        </p:nvSpPr>
        <p:spPr>
          <a:xfrm>
            <a:off x="4297680" y="960120"/>
            <a:ext cx="7406640" cy="868680"/>
          </a:xfrm>
          <a:prstGeom prst="rect">
            <a:avLst/>
          </a:prstGeom>
          <a:noFill/>
          <a:ln/>
        </p:spPr>
        <p:txBody>
          <a:bodyPr wrap="square" lIns="0" tIns="0" rIns="0" bIns="0" rtlCol="0" anchor="ctr"/>
          <a:lstStyle/>
          <a:p>
            <a:pPr indent="0" marL="0">
              <a:buNone/>
            </a:pPr>
            <a:r>
              <a:rPr lang="en-US" sz="1500" dirty="0">
                <a:solidFill>
                  <a:srgbClr val="1F2428"/>
                </a:solidFill>
                <a:latin typeface="Calibri" pitchFamily="34" charset="0"/>
                <a:ea typeface="Calibri" pitchFamily="34" charset="-122"/>
                <a:cs typeface="Calibri" pitchFamily="34" charset="-120"/>
              </a:rPr>
              <a:t>k = 5 neighbours, L2 logistic regression with C = 1, RBF SVM with gamma = 0.001. Same constants as the paper.</a:t>
            </a:r>
            <a:endParaRPr lang="en-US" sz="1500" dirty="0"/>
          </a:p>
        </p:txBody>
      </p:sp>
      <p:sp>
        <p:nvSpPr>
          <p:cNvPr id="7" name="Shape 5"/>
          <p:cNvSpPr/>
          <p:nvPr/>
        </p:nvSpPr>
        <p:spPr>
          <a:xfrm>
            <a:off x="457200" y="2011680"/>
            <a:ext cx="640080" cy="640080"/>
          </a:xfrm>
          <a:prstGeom prst="roundRect">
            <a:avLst>
              <a:gd name="adj" fmla="val 11429"/>
            </a:avLst>
          </a:prstGeom>
          <a:solidFill>
            <a:srgbClr val="1F4E5F"/>
          </a:solidFill>
          <a:ln/>
        </p:spPr>
      </p:sp>
      <p:sp>
        <p:nvSpPr>
          <p:cNvPr id="8" name="Text 6"/>
          <p:cNvSpPr txBox="1"/>
          <p:nvPr/>
        </p:nvSpPr>
        <p:spPr>
          <a:xfrm>
            <a:off x="457200" y="2121408"/>
            <a:ext cx="6400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1325880" y="2011680"/>
            <a:ext cx="2926080" cy="640080"/>
          </a:xfrm>
          <a:prstGeom prst="rect">
            <a:avLst/>
          </a:prstGeom>
          <a:noFill/>
          <a:ln/>
        </p:spPr>
        <p:txBody>
          <a:bodyPr wrap="square" lIns="0" tIns="0" rIns="0" bIns="0" rtlCol="0" anchor="ctr"/>
          <a:lstStyle/>
          <a:p>
            <a:pPr indent="0" marL="0">
              <a:buNone/>
            </a:pPr>
            <a:r>
              <a:rPr lang="en-US" sz="1800" b="1" dirty="0">
                <a:solidFill>
                  <a:srgbClr val="1F2428"/>
                </a:solidFill>
                <a:latin typeface="Calibri" pitchFamily="34" charset="0"/>
                <a:ea typeface="Calibri" pitchFamily="34" charset="-122"/>
                <a:cs typeface="Calibri" pitchFamily="34" charset="-120"/>
              </a:rPr>
              <a:t>Frozen trunk</a:t>
            </a:r>
            <a:endParaRPr lang="en-US" sz="1800" dirty="0"/>
          </a:p>
        </p:txBody>
      </p:sp>
      <p:sp>
        <p:nvSpPr>
          <p:cNvPr id="10" name="Text 8"/>
          <p:cNvSpPr txBox="1"/>
          <p:nvPr/>
        </p:nvSpPr>
        <p:spPr>
          <a:xfrm>
            <a:off x="4297680" y="2011680"/>
            <a:ext cx="7406640" cy="868680"/>
          </a:xfrm>
          <a:prstGeom prst="rect">
            <a:avLst/>
          </a:prstGeom>
          <a:noFill/>
          <a:ln/>
        </p:spPr>
        <p:txBody>
          <a:bodyPr wrap="square" lIns="0" tIns="0" rIns="0" bIns="0" rtlCol="0" anchor="ctr"/>
          <a:lstStyle/>
          <a:p>
            <a:pPr indent="0" marL="0">
              <a:buNone/>
            </a:pPr>
            <a:r>
              <a:rPr lang="en-US" sz="1500" dirty="0">
                <a:solidFill>
                  <a:srgbClr val="1F2428"/>
                </a:solidFill>
                <a:latin typeface="Calibri" pitchFamily="34" charset="0"/>
                <a:ea typeface="Calibri" pitchFamily="34" charset="-122"/>
                <a:cs typeface="Calibri" pitchFamily="34" charset="-120"/>
              </a:rPr>
              <a:t>MobileNetV2 and InceptionV3 keep ImageNet weights. Only a new 2-class layer is trained. Cross-entropy is their softmax.</a:t>
            </a:r>
            <a:endParaRPr lang="en-US" sz="1500" dirty="0"/>
          </a:p>
        </p:txBody>
      </p:sp>
      <p:sp>
        <p:nvSpPr>
          <p:cNvPr id="11" name="Shape 9"/>
          <p:cNvSpPr/>
          <p:nvPr/>
        </p:nvSpPr>
        <p:spPr>
          <a:xfrm>
            <a:off x="457200" y="3063240"/>
            <a:ext cx="640080" cy="640080"/>
          </a:xfrm>
          <a:prstGeom prst="roundRect">
            <a:avLst>
              <a:gd name="adj" fmla="val 11429"/>
            </a:avLst>
          </a:prstGeom>
          <a:solidFill>
            <a:srgbClr val="1F4E5F"/>
          </a:solidFill>
          <a:ln/>
        </p:spPr>
      </p:sp>
      <p:sp>
        <p:nvSpPr>
          <p:cNvPr id="12" name="Text 10"/>
          <p:cNvSpPr txBox="1"/>
          <p:nvPr/>
        </p:nvSpPr>
        <p:spPr>
          <a:xfrm>
            <a:off x="457200" y="3172968"/>
            <a:ext cx="6400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1"/>
          <p:cNvSpPr txBox="1"/>
          <p:nvPr/>
        </p:nvSpPr>
        <p:spPr>
          <a:xfrm>
            <a:off x="1325880" y="3063240"/>
            <a:ext cx="2926080" cy="640080"/>
          </a:xfrm>
          <a:prstGeom prst="rect">
            <a:avLst/>
          </a:prstGeom>
          <a:noFill/>
          <a:ln/>
        </p:spPr>
        <p:txBody>
          <a:bodyPr wrap="square" lIns="0" tIns="0" rIns="0" bIns="0" rtlCol="0" anchor="ctr"/>
          <a:lstStyle/>
          <a:p>
            <a:pPr indent="0" marL="0">
              <a:buNone/>
            </a:pPr>
            <a:r>
              <a:rPr lang="en-US" sz="1800" b="1" dirty="0">
                <a:solidFill>
                  <a:srgbClr val="1F2428"/>
                </a:solidFill>
                <a:latin typeface="Calibri" pitchFamily="34" charset="0"/>
                <a:ea typeface="Calibri" pitchFamily="34" charset="-122"/>
                <a:cs typeface="Calibri" pitchFamily="34" charset="-120"/>
              </a:rPr>
              <a:t>More layers</a:t>
            </a:r>
            <a:endParaRPr lang="en-US" sz="1800" dirty="0"/>
          </a:p>
        </p:txBody>
      </p:sp>
      <p:sp>
        <p:nvSpPr>
          <p:cNvPr id="14" name="Text 12"/>
          <p:cNvSpPr txBox="1"/>
          <p:nvPr/>
        </p:nvSpPr>
        <p:spPr>
          <a:xfrm>
            <a:off x="4297680" y="3063240"/>
            <a:ext cx="7406640" cy="868680"/>
          </a:xfrm>
          <a:prstGeom prst="rect">
            <a:avLst/>
          </a:prstGeom>
          <a:noFill/>
          <a:ln/>
        </p:spPr>
        <p:txBody>
          <a:bodyPr wrap="square" lIns="0" tIns="0" rIns="0" bIns="0" rtlCol="0" anchor="ctr"/>
          <a:lstStyle/>
          <a:p>
            <a:pPr indent="0" marL="0">
              <a:buNone/>
            </a:pPr>
            <a:r>
              <a:rPr lang="en-US" sz="1500" dirty="0">
                <a:solidFill>
                  <a:srgbClr val="1F2428"/>
                </a:solidFill>
                <a:latin typeface="Calibri" pitchFamily="34" charset="0"/>
                <a:ea typeface="Calibri" pitchFamily="34" charset="-122"/>
                <a:cs typeface="Calibri" pitchFamily="34" charset="-120"/>
              </a:rPr>
              <a:t>Last four MobileNet blocks unfrozen, continued from the frozen checkpoint, smaller learning rate.</a:t>
            </a:r>
            <a:endParaRPr lang="en-US" sz="1500" dirty="0"/>
          </a:p>
        </p:txBody>
      </p:sp>
      <p:sp>
        <p:nvSpPr>
          <p:cNvPr id="15" name="Shape 13"/>
          <p:cNvSpPr/>
          <p:nvPr/>
        </p:nvSpPr>
        <p:spPr>
          <a:xfrm>
            <a:off x="457200" y="4114800"/>
            <a:ext cx="640080" cy="640080"/>
          </a:xfrm>
          <a:prstGeom prst="roundRect">
            <a:avLst>
              <a:gd name="adj" fmla="val 11429"/>
            </a:avLst>
          </a:prstGeom>
          <a:solidFill>
            <a:srgbClr val="1F4E5F"/>
          </a:solidFill>
          <a:ln/>
        </p:spPr>
      </p:sp>
      <p:sp>
        <p:nvSpPr>
          <p:cNvPr id="16" name="Text 14"/>
          <p:cNvSpPr txBox="1"/>
          <p:nvPr/>
        </p:nvSpPr>
        <p:spPr>
          <a:xfrm>
            <a:off x="457200" y="4224528"/>
            <a:ext cx="6400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Text 15"/>
          <p:cNvSpPr txBox="1"/>
          <p:nvPr/>
        </p:nvSpPr>
        <p:spPr>
          <a:xfrm>
            <a:off x="1325880" y="4114800"/>
            <a:ext cx="2926080" cy="640080"/>
          </a:xfrm>
          <a:prstGeom prst="rect">
            <a:avLst/>
          </a:prstGeom>
          <a:noFill/>
          <a:ln/>
        </p:spPr>
        <p:txBody>
          <a:bodyPr wrap="square" lIns="0" tIns="0" rIns="0" bIns="0" rtlCol="0" anchor="ctr"/>
          <a:lstStyle/>
          <a:p>
            <a:pPr indent="0" marL="0">
              <a:buNone/>
            </a:pPr>
            <a:r>
              <a:rPr lang="en-US" sz="1800" b="1" dirty="0">
                <a:solidFill>
                  <a:srgbClr val="1F2428"/>
                </a:solidFill>
                <a:latin typeface="Calibri" pitchFamily="34" charset="0"/>
                <a:ea typeface="Calibri" pitchFamily="34" charset="-122"/>
                <a:cs typeface="Calibri" pitchFamily="34" charset="-120"/>
              </a:rPr>
              <a:t>Augment</a:t>
            </a:r>
            <a:endParaRPr lang="en-US" sz="1800" dirty="0"/>
          </a:p>
        </p:txBody>
      </p:sp>
      <p:sp>
        <p:nvSpPr>
          <p:cNvPr id="18" name="Text 16"/>
          <p:cNvSpPr txBox="1"/>
          <p:nvPr/>
        </p:nvSpPr>
        <p:spPr>
          <a:xfrm>
            <a:off x="4297680" y="4114800"/>
            <a:ext cx="7406640" cy="868680"/>
          </a:xfrm>
          <a:prstGeom prst="rect">
            <a:avLst/>
          </a:prstGeom>
          <a:noFill/>
          <a:ln/>
        </p:spPr>
        <p:txBody>
          <a:bodyPr wrap="square" lIns="0" tIns="0" rIns="0" bIns="0" rtlCol="0" anchor="ctr"/>
          <a:lstStyle/>
          <a:p>
            <a:pPr indent="0" marL="0">
              <a:buNone/>
            </a:pPr>
            <a:r>
              <a:rPr lang="en-US" sz="1500" dirty="0">
                <a:solidFill>
                  <a:srgbClr val="1F2428"/>
                </a:solidFill>
                <a:latin typeface="Calibri" pitchFamily="34" charset="0"/>
                <a:ea typeface="Calibri" pitchFamily="34" charset="-122"/>
                <a:cs typeface="Calibri" pitchFamily="34" charset="-120"/>
              </a:rPr>
              <a:t>A fresh MobileNet sees horizontal flips and a small shift. We did not zoom. The paper showed zoom can invent invalid pictures.</a:t>
            </a:r>
            <a:endParaRPr lang="en-US" sz="1500" dirty="0"/>
          </a:p>
        </p:txBody>
      </p:sp>
      <p:sp>
        <p:nvSpPr>
          <p:cNvPr id="19" name="Shape 17"/>
          <p:cNvSpPr/>
          <p:nvPr/>
        </p:nvSpPr>
        <p:spPr>
          <a:xfrm>
            <a:off x="457200" y="5166360"/>
            <a:ext cx="640080" cy="640080"/>
          </a:xfrm>
          <a:prstGeom prst="roundRect">
            <a:avLst>
              <a:gd name="adj" fmla="val 11429"/>
            </a:avLst>
          </a:prstGeom>
          <a:solidFill>
            <a:srgbClr val="1F4E5F"/>
          </a:solidFill>
          <a:ln/>
        </p:spPr>
      </p:sp>
      <p:sp>
        <p:nvSpPr>
          <p:cNvPr id="20" name="Text 18"/>
          <p:cNvSpPr txBox="1"/>
          <p:nvPr/>
        </p:nvSpPr>
        <p:spPr>
          <a:xfrm>
            <a:off x="457200" y="5276088"/>
            <a:ext cx="6400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1" name="Text 19"/>
          <p:cNvSpPr txBox="1"/>
          <p:nvPr/>
        </p:nvSpPr>
        <p:spPr>
          <a:xfrm>
            <a:off x="1325880" y="5166360"/>
            <a:ext cx="2926080" cy="640080"/>
          </a:xfrm>
          <a:prstGeom prst="rect">
            <a:avLst/>
          </a:prstGeom>
          <a:noFill/>
          <a:ln/>
        </p:spPr>
        <p:txBody>
          <a:bodyPr wrap="square" lIns="0" tIns="0" rIns="0" bIns="0" rtlCol="0" anchor="ctr"/>
          <a:lstStyle/>
          <a:p>
            <a:pPr indent="0" marL="0">
              <a:buNone/>
            </a:pPr>
            <a:r>
              <a:rPr lang="en-US" sz="1800" b="1" dirty="0">
                <a:solidFill>
                  <a:srgbClr val="1F2428"/>
                </a:solidFill>
                <a:latin typeface="Calibri" pitchFamily="34" charset="0"/>
                <a:ea typeface="Calibri" pitchFamily="34" charset="-122"/>
                <a:cs typeface="Calibri" pitchFamily="34" charset="-120"/>
              </a:rPr>
              <a:t>Mid-layer SVM</a:t>
            </a:r>
            <a:endParaRPr lang="en-US" sz="1800" dirty="0"/>
          </a:p>
        </p:txBody>
      </p:sp>
      <p:sp>
        <p:nvSpPr>
          <p:cNvPr id="22" name="Text 20"/>
          <p:cNvSpPr txBox="1"/>
          <p:nvPr/>
        </p:nvSpPr>
        <p:spPr>
          <a:xfrm>
            <a:off x="4297680" y="5166360"/>
            <a:ext cx="7406640" cy="868680"/>
          </a:xfrm>
          <a:prstGeom prst="rect">
            <a:avLst/>
          </a:prstGeom>
          <a:noFill/>
          <a:ln/>
        </p:spPr>
        <p:txBody>
          <a:bodyPr wrap="square" lIns="0" tIns="0" rIns="0" bIns="0" rtlCol="0" anchor="ctr"/>
          <a:lstStyle/>
          <a:p>
            <a:pPr indent="0" marL="0">
              <a:buNone/>
            </a:pPr>
            <a:r>
              <a:rPr lang="en-US" sz="1500" dirty="0">
                <a:solidFill>
                  <a:srgbClr val="1F2428"/>
                </a:solidFill>
                <a:latin typeface="Calibri" pitchFamily="34" charset="0"/>
                <a:ea typeface="Calibri" pitchFamily="34" charset="-122"/>
                <a:cs typeface="Calibri" pitchFamily="34" charset="-120"/>
              </a:rPr>
              <a:t>Inception block Mixed_6e, averaged to 768 numbers, then an RBF SVM. Gamma picked on validation.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7315200" cy="411480"/>
          </a:xfrm>
          <a:prstGeom prst="rect">
            <a:avLst/>
          </a:prstGeom>
          <a:noFill/>
          <a:ln/>
        </p:spPr>
        <p:txBody>
          <a:bodyPr wrap="square" lIns="0" tIns="0" rIns="0" bIns="0" rtlCol="0" anchor="ctr"/>
          <a:lstStyle/>
          <a:p>
            <a:pPr indent="0" marL="0">
              <a:buNone/>
            </a:pPr>
            <a:r>
              <a:rPr lang="en-US" sz="3200" b="1" dirty="0">
                <a:solidFill>
                  <a:srgbClr val="1F2428"/>
                </a:solidFill>
                <a:latin typeface="Cambria" pitchFamily="34" charset="0"/>
                <a:ea typeface="Cambria" pitchFamily="34" charset="-122"/>
                <a:cs typeface="Cambria" pitchFamily="34" charset="-120"/>
              </a:rPr>
              <a:t>Test accuracy</a:t>
            </a:r>
            <a:endParaRPr lang="en-US" sz="3200" dirty="0"/>
          </a:p>
        </p:txBody>
      </p:sp>
      <p:sp>
        <p:nvSpPr>
          <p:cNvPr id="3" name="Text 1"/>
          <p:cNvSpPr txBox="1"/>
          <p:nvPr/>
        </p:nvSpPr>
        <p:spPr>
          <a:xfrm>
            <a:off x="457200" y="731520"/>
            <a:ext cx="10972800" cy="320040"/>
          </a:xfrm>
          <a:prstGeom prst="rect">
            <a:avLst/>
          </a:prstGeom>
          <a:noFill/>
          <a:ln/>
        </p:spPr>
        <p:txBody>
          <a:bodyPr wrap="square" lIns="0" tIns="0" rIns="0" bIns="0" rtlCol="0" anchor="ctr"/>
          <a:lstStyle/>
          <a:p>
            <a:pPr indent="0" marL="0">
              <a:buNone/>
            </a:pPr>
            <a:r>
              <a:rPr lang="en-US" sz="1400" dirty="0">
                <a:solidFill>
                  <a:srgbClr val="5C656B"/>
                </a:solidFill>
                <a:latin typeface="Calibri" pitchFamily="34" charset="0"/>
                <a:ea typeface="Calibri" pitchFamily="34" charset="-122"/>
                <a:cs typeface="Calibri" pitchFamily="34" charset="-120"/>
              </a:rPr>
              <a:t>Chance on this set is 50%. The feature SVM bar is on 2,400 photos. The others are on 4,000 or 8,000.</a:t>
            </a:r>
            <a:endParaRPr lang="en-US" sz="1400" dirty="0"/>
          </a:p>
        </p:txBody>
      </p:sp>
      <p:graphicFrame>
        <p:nvGraphicFramePr>
          <p:cNvPr id="4" name="Chart 0" descr=""/>
          <p:cNvGraphicFramePr/>
          <p:nvPr/>
        </p:nvGraphicFramePr>
        <p:xfrm>
          <a:off x="365760" y="1097280"/>
          <a:ext cx="11430000" cy="53035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502920"/>
          </a:xfrm>
          <a:prstGeom prst="rect">
            <a:avLst/>
          </a:prstGeom>
          <a:noFill/>
          <a:ln/>
        </p:spPr>
        <p:txBody>
          <a:bodyPr wrap="square" lIns="0" tIns="0" rIns="0" bIns="0" rtlCol="0" anchor="ctr"/>
          <a:lstStyle/>
          <a:p>
            <a:pPr indent="0" marL="0">
              <a:buNone/>
            </a:pPr>
            <a:r>
              <a:rPr lang="en-US" sz="2800" b="1" dirty="0">
                <a:solidFill>
                  <a:srgbClr val="1F2428"/>
                </a:solidFill>
                <a:latin typeface="Cambria" pitchFamily="34" charset="0"/>
                <a:ea typeface="Cambria" pitchFamily="34" charset="-122"/>
                <a:cs typeface="Cambria" pitchFamily="34" charset="-120"/>
              </a:rPr>
              <a:t>KNN is 75% accurate and still misses half the cracks</a:t>
            </a:r>
            <a:endParaRPr lang="en-US" sz="2800" dirty="0"/>
          </a:p>
        </p:txBody>
      </p:sp>
      <p:sp>
        <p:nvSpPr>
          <p:cNvPr id="3" name="Shape 1"/>
          <p:cNvSpPr/>
          <p:nvPr/>
        </p:nvSpPr>
        <p:spPr>
          <a:xfrm>
            <a:off x="457200" y="1051560"/>
            <a:ext cx="3657600" cy="2103120"/>
          </a:xfrm>
          <a:prstGeom prst="roundRect">
            <a:avLst>
              <a:gd name="adj" fmla="val 3478"/>
            </a:avLst>
          </a:prstGeom>
          <a:solidFill>
            <a:srgbClr val="F3F5F6"/>
          </a:solidFill>
          <a:ln/>
        </p:spPr>
      </p:sp>
      <p:sp>
        <p:nvSpPr>
          <p:cNvPr id="4" name="Text 2"/>
          <p:cNvSpPr txBox="1"/>
          <p:nvPr/>
        </p:nvSpPr>
        <p:spPr>
          <a:xfrm>
            <a:off x="640080" y="1234440"/>
            <a:ext cx="3291840" cy="822960"/>
          </a:xfrm>
          <a:prstGeom prst="rect">
            <a:avLst/>
          </a:prstGeom>
          <a:noFill/>
          <a:ln/>
        </p:spPr>
        <p:txBody>
          <a:bodyPr wrap="square" lIns="0" tIns="0" rIns="0" bIns="0" rtlCol="0" anchor="ctr"/>
          <a:lstStyle/>
          <a:p>
            <a:pPr indent="0" marL="0">
              <a:buNone/>
            </a:pPr>
            <a:r>
              <a:rPr lang="en-US" sz="4000" b="1" dirty="0">
                <a:solidFill>
                  <a:srgbClr val="1F4E5F"/>
                </a:solidFill>
                <a:latin typeface="Cambria" pitchFamily="34" charset="0"/>
                <a:ea typeface="Cambria" pitchFamily="34" charset="-122"/>
                <a:cs typeface="Cambria" pitchFamily="34" charset="-120"/>
              </a:rPr>
              <a:t>100%</a:t>
            </a:r>
            <a:endParaRPr lang="en-US" sz="4000" dirty="0"/>
          </a:p>
        </p:txBody>
      </p:sp>
      <p:sp>
        <p:nvSpPr>
          <p:cNvPr id="5" name="Text 3"/>
          <p:cNvSpPr txBox="1"/>
          <p:nvPr/>
        </p:nvSpPr>
        <p:spPr>
          <a:xfrm>
            <a:off x="640080" y="2103120"/>
            <a:ext cx="3291840" cy="73152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of its 'damaged' calls</a:t>
            </a:r>
            <a:endParaRPr lang="en-US" sz="1600" dirty="0"/>
          </a:p>
          <a:p>
            <a:pPr indent="0" marL="0">
              <a:buNone/>
            </a:pPr>
            <a:r>
              <a:rPr lang="en-US" sz="1600" dirty="0">
                <a:solidFill>
                  <a:srgbClr val="1F2428"/>
                </a:solidFill>
                <a:latin typeface="Calibri" pitchFamily="34" charset="0"/>
                <a:ea typeface="Calibri" pitchFamily="34" charset="-122"/>
                <a:cs typeface="Calibri" pitchFamily="34" charset="-120"/>
              </a:rPr>
              <a:t>were actually damaged</a:t>
            </a:r>
            <a:endParaRPr lang="en-US" sz="1600" dirty="0"/>
          </a:p>
        </p:txBody>
      </p:sp>
      <p:sp>
        <p:nvSpPr>
          <p:cNvPr id="6" name="Shape 4"/>
          <p:cNvSpPr/>
          <p:nvPr/>
        </p:nvSpPr>
        <p:spPr>
          <a:xfrm>
            <a:off x="4297680" y="1051560"/>
            <a:ext cx="3657600" cy="2103120"/>
          </a:xfrm>
          <a:prstGeom prst="roundRect">
            <a:avLst>
              <a:gd name="adj" fmla="val 3478"/>
            </a:avLst>
          </a:prstGeom>
          <a:solidFill>
            <a:srgbClr val="F3F5F6"/>
          </a:solidFill>
          <a:ln/>
        </p:spPr>
      </p:sp>
      <p:sp>
        <p:nvSpPr>
          <p:cNvPr id="7" name="Text 5"/>
          <p:cNvSpPr txBox="1"/>
          <p:nvPr/>
        </p:nvSpPr>
        <p:spPr>
          <a:xfrm>
            <a:off x="4480560" y="1234440"/>
            <a:ext cx="3291840" cy="822960"/>
          </a:xfrm>
          <a:prstGeom prst="rect">
            <a:avLst/>
          </a:prstGeom>
          <a:noFill/>
          <a:ln/>
        </p:spPr>
        <p:txBody>
          <a:bodyPr wrap="square" lIns="0" tIns="0" rIns="0" bIns="0" rtlCol="0" anchor="ctr"/>
          <a:lstStyle/>
          <a:p>
            <a:pPr indent="0" marL="0">
              <a:buNone/>
            </a:pPr>
            <a:r>
              <a:rPr lang="en-US" sz="4000" b="1" dirty="0">
                <a:solidFill>
                  <a:srgbClr val="C45C26"/>
                </a:solidFill>
                <a:latin typeface="Cambria" pitchFamily="34" charset="0"/>
                <a:ea typeface="Cambria" pitchFamily="34" charset="-122"/>
                <a:cs typeface="Cambria" pitchFamily="34" charset="-120"/>
              </a:rPr>
              <a:t>50.25%</a:t>
            </a:r>
            <a:endParaRPr lang="en-US" sz="4000" dirty="0"/>
          </a:p>
        </p:txBody>
      </p:sp>
      <p:sp>
        <p:nvSpPr>
          <p:cNvPr id="8" name="Text 6"/>
          <p:cNvSpPr txBox="1"/>
          <p:nvPr/>
        </p:nvSpPr>
        <p:spPr>
          <a:xfrm>
            <a:off x="4480560" y="2103120"/>
            <a:ext cx="3291840" cy="73152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of real cracks</a:t>
            </a:r>
            <a:endParaRPr lang="en-US" sz="1600" dirty="0"/>
          </a:p>
          <a:p>
            <a:pPr indent="0" marL="0">
              <a:buNone/>
            </a:pPr>
            <a:r>
              <a:rPr lang="en-US" sz="1600" dirty="0">
                <a:solidFill>
                  <a:srgbClr val="1F2428"/>
                </a:solidFill>
                <a:latin typeface="Calibri" pitchFamily="34" charset="0"/>
                <a:ea typeface="Calibri" pitchFamily="34" charset="-122"/>
                <a:cs typeface="Calibri" pitchFamily="34" charset="-120"/>
              </a:rPr>
              <a:t>were found</a:t>
            </a:r>
            <a:endParaRPr lang="en-US" sz="1600" dirty="0"/>
          </a:p>
        </p:txBody>
      </p:sp>
      <p:sp>
        <p:nvSpPr>
          <p:cNvPr id="9" name="Shape 7"/>
          <p:cNvSpPr/>
          <p:nvPr/>
        </p:nvSpPr>
        <p:spPr>
          <a:xfrm>
            <a:off x="8138160" y="1051560"/>
            <a:ext cx="3566160" cy="2103120"/>
          </a:xfrm>
          <a:prstGeom prst="roundRect">
            <a:avLst>
              <a:gd name="adj" fmla="val 3478"/>
            </a:avLst>
          </a:prstGeom>
          <a:solidFill>
            <a:srgbClr val="F3F5F6"/>
          </a:solidFill>
          <a:ln/>
        </p:spPr>
      </p:sp>
      <p:sp>
        <p:nvSpPr>
          <p:cNvPr id="10" name="Text 8"/>
          <p:cNvSpPr txBox="1"/>
          <p:nvPr/>
        </p:nvSpPr>
        <p:spPr>
          <a:xfrm>
            <a:off x="8321040" y="1234440"/>
            <a:ext cx="3200400" cy="822960"/>
          </a:xfrm>
          <a:prstGeom prst="rect">
            <a:avLst/>
          </a:prstGeom>
          <a:noFill/>
          <a:ln/>
        </p:spPr>
        <p:txBody>
          <a:bodyPr wrap="square" lIns="0" tIns="0" rIns="0" bIns="0" rtlCol="0" anchor="ctr"/>
          <a:lstStyle/>
          <a:p>
            <a:pPr indent="0" marL="0">
              <a:buNone/>
            </a:pPr>
            <a:r>
              <a:rPr lang="en-US" sz="4000" b="1" dirty="0">
                <a:solidFill>
                  <a:srgbClr val="1F2428"/>
                </a:solidFill>
                <a:latin typeface="Cambria" pitchFamily="34" charset="0"/>
                <a:ea typeface="Cambria" pitchFamily="34" charset="-122"/>
                <a:cs typeface="Cambria" pitchFamily="34" charset="-120"/>
              </a:rPr>
              <a:t>0</a:t>
            </a:r>
            <a:endParaRPr lang="en-US" sz="4000" dirty="0"/>
          </a:p>
        </p:txBody>
      </p:sp>
      <p:sp>
        <p:nvSpPr>
          <p:cNvPr id="11" name="Text 9"/>
          <p:cNvSpPr txBox="1"/>
          <p:nvPr/>
        </p:nvSpPr>
        <p:spPr>
          <a:xfrm>
            <a:off x="8321040" y="2103120"/>
            <a:ext cx="3200400" cy="73152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intact photos</a:t>
            </a:r>
            <a:endParaRPr lang="en-US" sz="1600" dirty="0"/>
          </a:p>
          <a:p>
            <a:pPr indent="0" marL="0">
              <a:buNone/>
            </a:pPr>
            <a:r>
              <a:rPr lang="en-US" sz="1600" dirty="0">
                <a:solidFill>
                  <a:srgbClr val="1F2428"/>
                </a:solidFill>
                <a:latin typeface="Calibri" pitchFamily="34" charset="0"/>
                <a:ea typeface="Calibri" pitchFamily="34" charset="-122"/>
                <a:cs typeface="Calibri" pitchFamily="34" charset="-120"/>
              </a:rPr>
              <a:t>called damaged</a:t>
            </a:r>
            <a:endParaRPr lang="en-US" sz="1600" dirty="0"/>
          </a:p>
        </p:txBody>
      </p:sp>
      <p:sp>
        <p:nvSpPr>
          <p:cNvPr id="12" name="Text 10"/>
          <p:cNvSpPr txBox="1"/>
          <p:nvPr/>
        </p:nvSpPr>
        <p:spPr>
          <a:xfrm>
            <a:off x="457200" y="3383280"/>
            <a:ext cx="11247120" cy="146304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Test counts on 4,000 photos: 2,000 true undamaged, 0 false damaged, 995 missed cracks, 1,005 found cracks. A crack is a thin line. Flatten the photo and that line is just a few coordinates. Move the crack and those coordinates change, so the five nearest training vectors are often intact concrete. Accuracy alone hides this. Precision and recall do not.</a:t>
            </a:r>
            <a:endParaRPr lang="en-US" sz="1600" dirty="0"/>
          </a:p>
        </p:txBody>
      </p:sp>
      <p:sp>
        <p:nvSpPr>
          <p:cNvPr id="13" name="Text 11"/>
          <p:cNvSpPr txBox="1"/>
          <p:nvPr/>
        </p:nvSpPr>
        <p:spPr>
          <a:xfrm>
            <a:off x="457200" y="4983480"/>
            <a:ext cx="11247120" cy="118872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Logistic regression's validation accuracy climbs from 76.33% at 300 training photos to 82.03% at 1,500, then sits there. More of the same flat vectors will not reach the network.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0972800" cy="457200"/>
          </a:xfrm>
          <a:prstGeom prst="rect">
            <a:avLst/>
          </a:prstGeom>
          <a:noFill/>
          <a:ln/>
        </p:spPr>
        <p:txBody>
          <a:bodyPr wrap="square" lIns="0" tIns="0" rIns="0" bIns="0" rtlCol="0" anchor="ctr"/>
          <a:lstStyle/>
          <a:p>
            <a:pPr indent="0" marL="0">
              <a:buNone/>
            </a:pPr>
            <a:r>
              <a:rPr lang="en-US" sz="3000" b="1" dirty="0">
                <a:solidFill>
                  <a:srgbClr val="1F2428"/>
                </a:solidFill>
                <a:latin typeface="Cambria" pitchFamily="34" charset="0"/>
                <a:ea typeface="Cambria" pitchFamily="34" charset="-122"/>
                <a:cs typeface="Cambria" pitchFamily="34" charset="-120"/>
              </a:rPr>
              <a:t>What extra training did, and did not do</a:t>
            </a:r>
            <a:endParaRPr lang="en-US" sz="3000" dirty="0"/>
          </a:p>
        </p:txBody>
      </p:sp>
      <p:sp>
        <p:nvSpPr>
          <p:cNvPr id="3" name="Shape 1"/>
          <p:cNvSpPr/>
          <p:nvPr/>
        </p:nvSpPr>
        <p:spPr>
          <a:xfrm>
            <a:off x="411480" y="1051560"/>
            <a:ext cx="2788920" cy="2880360"/>
          </a:xfrm>
          <a:prstGeom prst="roundRect">
            <a:avLst>
              <a:gd name="adj" fmla="val 2623"/>
            </a:avLst>
          </a:prstGeom>
          <a:solidFill>
            <a:srgbClr val="F3F5F6"/>
          </a:solidFill>
          <a:ln/>
        </p:spPr>
      </p:sp>
      <p:sp>
        <p:nvSpPr>
          <p:cNvPr id="4" name="Text 2"/>
          <p:cNvSpPr txBox="1"/>
          <p:nvPr/>
        </p:nvSpPr>
        <p:spPr>
          <a:xfrm>
            <a:off x="548640" y="1234440"/>
            <a:ext cx="2514600" cy="640080"/>
          </a:xfrm>
          <a:prstGeom prst="rect">
            <a:avLst/>
          </a:prstGeom>
          <a:noFill/>
          <a:ln/>
        </p:spPr>
        <p:txBody>
          <a:bodyPr wrap="square" lIns="0" tIns="0" rIns="0" bIns="0" rtlCol="0" anchor="ctr"/>
          <a:lstStyle/>
          <a:p>
            <a:pPr indent="0" marL="0">
              <a:buNone/>
            </a:pPr>
            <a:r>
              <a:rPr lang="en-US" sz="2800" b="1" dirty="0">
                <a:solidFill>
                  <a:srgbClr val="1F4E5F"/>
                </a:solidFill>
                <a:latin typeface="Cambria" pitchFamily="34" charset="0"/>
                <a:ea typeface="Cambria" pitchFamily="34" charset="-122"/>
                <a:cs typeface="Cambria" pitchFamily="34" charset="-120"/>
              </a:rPr>
              <a:t>99.45%</a:t>
            </a:r>
            <a:endParaRPr lang="en-US" sz="2800" dirty="0"/>
          </a:p>
        </p:txBody>
      </p:sp>
      <p:sp>
        <p:nvSpPr>
          <p:cNvPr id="5" name="Text 3"/>
          <p:cNvSpPr txBox="1"/>
          <p:nvPr/>
        </p:nvSpPr>
        <p:spPr>
          <a:xfrm>
            <a:off x="548640" y="1965960"/>
            <a:ext cx="2514600" cy="640080"/>
          </a:xfrm>
          <a:prstGeom prst="rect">
            <a:avLst/>
          </a:prstGeom>
          <a:noFill/>
          <a:ln/>
        </p:spPr>
        <p:txBody>
          <a:bodyPr wrap="square" lIns="0" tIns="0" rIns="0" bIns="0" rtlCol="0" anchor="ctr"/>
          <a:lstStyle/>
          <a:p>
            <a:pPr indent="0" marL="0">
              <a:buNone/>
            </a:pPr>
            <a:r>
              <a:rPr lang="en-US" sz="1500" b="1" dirty="0">
                <a:solidFill>
                  <a:srgbClr val="1F2428"/>
                </a:solidFill>
                <a:latin typeface="Calibri" pitchFamily="34" charset="0"/>
                <a:ea typeface="Calibri" pitchFamily="34" charset="-122"/>
                <a:cs typeface="Calibri" pitchFamily="34" charset="-120"/>
              </a:rPr>
              <a:t>Frozen MobileNet</a:t>
            </a:r>
            <a:endParaRPr lang="en-US" sz="1500" dirty="0"/>
          </a:p>
        </p:txBody>
      </p:sp>
      <p:sp>
        <p:nvSpPr>
          <p:cNvPr id="6" name="Text 4"/>
          <p:cNvSpPr txBox="1"/>
          <p:nvPr/>
        </p:nvSpPr>
        <p:spPr>
          <a:xfrm>
            <a:off x="548640" y="2651760"/>
            <a:ext cx="2514600" cy="1051560"/>
          </a:xfrm>
          <a:prstGeom prst="rect">
            <a:avLst/>
          </a:prstGeom>
          <a:noFill/>
          <a:ln/>
        </p:spPr>
        <p:txBody>
          <a:bodyPr wrap="square" lIns="0" tIns="0" rIns="0" bIns="0" rtlCol="0" anchor="ctr"/>
          <a:lstStyle/>
          <a:p>
            <a:pPr indent="0" marL="0">
              <a:buNone/>
            </a:pPr>
            <a:r>
              <a:rPr lang="en-US" sz="1300" dirty="0">
                <a:solidFill>
                  <a:srgbClr val="5C656B"/>
                </a:solidFill>
                <a:latin typeface="Calibri" pitchFamily="34" charset="0"/>
                <a:ea typeface="Calibri" pitchFamily="34" charset="-122"/>
                <a:cs typeface="Calibri" pitchFamily="34" charset="-120"/>
              </a:rPr>
              <a:t>2,562 trained numbers</a:t>
            </a:r>
            <a:endParaRPr lang="en-US" sz="1300" dirty="0"/>
          </a:p>
          <a:p>
            <a:pPr indent="0" marL="0">
              <a:buNone/>
            </a:pPr>
            <a:r>
              <a:rPr lang="en-US" sz="1300" dirty="0">
                <a:solidFill>
                  <a:srgbClr val="5C656B"/>
                </a:solidFill>
                <a:latin typeface="Calibri" pitchFamily="34" charset="0"/>
                <a:ea typeface="Calibri" pitchFamily="34" charset="-122"/>
                <a:cs typeface="Calibri" pitchFamily="34" charset="-120"/>
              </a:rPr>
              <a:t>out of 2,226,434</a:t>
            </a:r>
            <a:endParaRPr lang="en-US" sz="1300" dirty="0"/>
          </a:p>
        </p:txBody>
      </p:sp>
      <p:sp>
        <p:nvSpPr>
          <p:cNvPr id="7" name="Shape 5"/>
          <p:cNvSpPr/>
          <p:nvPr/>
        </p:nvSpPr>
        <p:spPr>
          <a:xfrm>
            <a:off x="3337560" y="1051560"/>
            <a:ext cx="2788920" cy="2880360"/>
          </a:xfrm>
          <a:prstGeom prst="roundRect">
            <a:avLst>
              <a:gd name="adj" fmla="val 2623"/>
            </a:avLst>
          </a:prstGeom>
          <a:solidFill>
            <a:srgbClr val="F3F5F6"/>
          </a:solidFill>
          <a:ln/>
        </p:spPr>
      </p:sp>
      <p:sp>
        <p:nvSpPr>
          <p:cNvPr id="8" name="Text 6"/>
          <p:cNvSpPr txBox="1"/>
          <p:nvPr/>
        </p:nvSpPr>
        <p:spPr>
          <a:xfrm>
            <a:off x="3474720" y="1234440"/>
            <a:ext cx="2514600" cy="640080"/>
          </a:xfrm>
          <a:prstGeom prst="rect">
            <a:avLst/>
          </a:prstGeom>
          <a:noFill/>
          <a:ln/>
        </p:spPr>
        <p:txBody>
          <a:bodyPr wrap="square" lIns="0" tIns="0" rIns="0" bIns="0" rtlCol="0" anchor="ctr"/>
          <a:lstStyle/>
          <a:p>
            <a:pPr indent="0" marL="0">
              <a:buNone/>
            </a:pPr>
            <a:r>
              <a:rPr lang="en-US" sz="2800" b="1" dirty="0">
                <a:solidFill>
                  <a:srgbClr val="1F4E5F"/>
                </a:solidFill>
                <a:latin typeface="Cambria" pitchFamily="34" charset="0"/>
                <a:ea typeface="Cambria" pitchFamily="34" charset="-122"/>
                <a:cs typeface="Cambria" pitchFamily="34" charset="-120"/>
              </a:rPr>
              <a:t>99.70%</a:t>
            </a:r>
            <a:endParaRPr lang="en-US" sz="2800" dirty="0"/>
          </a:p>
        </p:txBody>
      </p:sp>
      <p:sp>
        <p:nvSpPr>
          <p:cNvPr id="9" name="Text 7"/>
          <p:cNvSpPr txBox="1"/>
          <p:nvPr/>
        </p:nvSpPr>
        <p:spPr>
          <a:xfrm>
            <a:off x="3474720" y="1965960"/>
            <a:ext cx="2514600" cy="640080"/>
          </a:xfrm>
          <a:prstGeom prst="rect">
            <a:avLst/>
          </a:prstGeom>
          <a:noFill/>
          <a:ln/>
        </p:spPr>
        <p:txBody>
          <a:bodyPr wrap="square" lIns="0" tIns="0" rIns="0" bIns="0" rtlCol="0" anchor="ctr"/>
          <a:lstStyle/>
          <a:p>
            <a:pPr indent="0" marL="0">
              <a:buNone/>
            </a:pPr>
            <a:r>
              <a:rPr lang="en-US" sz="1500" b="1" dirty="0">
                <a:solidFill>
                  <a:srgbClr val="1F2428"/>
                </a:solidFill>
                <a:latin typeface="Calibri" pitchFamily="34" charset="0"/>
                <a:ea typeface="Calibri" pitchFamily="34" charset="-122"/>
                <a:cs typeface="Calibri" pitchFamily="34" charset="-120"/>
              </a:rPr>
              <a:t>Last blocks unfrozen</a:t>
            </a:r>
            <a:endParaRPr lang="en-US" sz="1500" dirty="0"/>
          </a:p>
        </p:txBody>
      </p:sp>
      <p:sp>
        <p:nvSpPr>
          <p:cNvPr id="10" name="Text 8"/>
          <p:cNvSpPr txBox="1"/>
          <p:nvPr/>
        </p:nvSpPr>
        <p:spPr>
          <a:xfrm>
            <a:off x="3474720" y="2651760"/>
            <a:ext cx="2514600" cy="1051560"/>
          </a:xfrm>
          <a:prstGeom prst="rect">
            <a:avLst/>
          </a:prstGeom>
          <a:noFill/>
          <a:ln/>
        </p:spPr>
        <p:txBody>
          <a:bodyPr wrap="square" lIns="0" tIns="0" rIns="0" bIns="0" rtlCol="0" anchor="ctr"/>
          <a:lstStyle/>
          <a:p>
            <a:pPr indent="0" marL="0">
              <a:buNone/>
            </a:pPr>
            <a:r>
              <a:rPr lang="en-US" sz="1300" dirty="0">
                <a:solidFill>
                  <a:srgbClr val="5C656B"/>
                </a:solidFill>
                <a:latin typeface="Calibri" pitchFamily="34" charset="0"/>
                <a:ea typeface="Calibri" pitchFamily="34" charset="-122"/>
                <a:cs typeface="Calibri" pitchFamily="34" charset="-120"/>
              </a:rPr>
              <a:t>1,528,642 trained numbers.</a:t>
            </a:r>
            <a:endParaRPr lang="en-US" sz="1300" dirty="0"/>
          </a:p>
          <a:p>
            <a:pPr indent="0" marL="0">
              <a:buNone/>
            </a:pPr>
            <a:r>
              <a:rPr lang="en-US" sz="1300" dirty="0">
                <a:solidFill>
                  <a:srgbClr val="5C656B"/>
                </a:solidFill>
                <a:latin typeface="Calibri" pitchFamily="34" charset="0"/>
                <a:ea typeface="Calibri" pitchFamily="34" charset="-122"/>
                <a:cs typeface="Calibri" pitchFamily="34" charset="-120"/>
              </a:rPr>
              <a:t>Small gain, train still 99.97%</a:t>
            </a:r>
            <a:endParaRPr lang="en-US" sz="1300" dirty="0"/>
          </a:p>
        </p:txBody>
      </p:sp>
      <p:sp>
        <p:nvSpPr>
          <p:cNvPr id="11" name="Shape 9"/>
          <p:cNvSpPr/>
          <p:nvPr/>
        </p:nvSpPr>
        <p:spPr>
          <a:xfrm>
            <a:off x="6263640" y="1051560"/>
            <a:ext cx="2788920" cy="2880360"/>
          </a:xfrm>
          <a:prstGeom prst="roundRect">
            <a:avLst>
              <a:gd name="adj" fmla="val 2623"/>
            </a:avLst>
          </a:prstGeom>
          <a:solidFill>
            <a:srgbClr val="F3F5F6"/>
          </a:solidFill>
          <a:ln/>
        </p:spPr>
      </p:sp>
      <p:sp>
        <p:nvSpPr>
          <p:cNvPr id="12" name="Text 10"/>
          <p:cNvSpPr txBox="1"/>
          <p:nvPr/>
        </p:nvSpPr>
        <p:spPr>
          <a:xfrm>
            <a:off x="6400800" y="1234440"/>
            <a:ext cx="2514600" cy="640080"/>
          </a:xfrm>
          <a:prstGeom prst="rect">
            <a:avLst/>
          </a:prstGeom>
          <a:noFill/>
          <a:ln/>
        </p:spPr>
        <p:txBody>
          <a:bodyPr wrap="square" lIns="0" tIns="0" rIns="0" bIns="0" rtlCol="0" anchor="ctr"/>
          <a:lstStyle/>
          <a:p>
            <a:pPr indent="0" marL="0">
              <a:buNone/>
            </a:pPr>
            <a:r>
              <a:rPr lang="en-US" sz="2800" b="1" dirty="0">
                <a:solidFill>
                  <a:srgbClr val="C45C26"/>
                </a:solidFill>
                <a:latin typeface="Cambria" pitchFamily="34" charset="0"/>
                <a:ea typeface="Cambria" pitchFamily="34" charset="-122"/>
                <a:cs typeface="Cambria" pitchFamily="34" charset="-120"/>
              </a:rPr>
              <a:t>99.03%</a:t>
            </a:r>
            <a:endParaRPr lang="en-US" sz="2800" dirty="0"/>
          </a:p>
        </p:txBody>
      </p:sp>
      <p:sp>
        <p:nvSpPr>
          <p:cNvPr id="13" name="Text 11"/>
          <p:cNvSpPr txBox="1"/>
          <p:nvPr/>
        </p:nvSpPr>
        <p:spPr>
          <a:xfrm>
            <a:off x="6400800" y="1965960"/>
            <a:ext cx="2514600" cy="640080"/>
          </a:xfrm>
          <a:prstGeom prst="rect">
            <a:avLst/>
          </a:prstGeom>
          <a:noFill/>
          <a:ln/>
        </p:spPr>
        <p:txBody>
          <a:bodyPr wrap="square" lIns="0" tIns="0" rIns="0" bIns="0" rtlCol="0" anchor="ctr"/>
          <a:lstStyle/>
          <a:p>
            <a:pPr indent="0" marL="0">
              <a:buNone/>
            </a:pPr>
            <a:r>
              <a:rPr lang="en-US" sz="1500" b="1" dirty="0">
                <a:solidFill>
                  <a:srgbClr val="1F2428"/>
                </a:solidFill>
                <a:latin typeface="Calibri" pitchFamily="34" charset="0"/>
                <a:ea typeface="Calibri" pitchFamily="34" charset="-122"/>
                <a:cs typeface="Calibri" pitchFamily="34" charset="-120"/>
              </a:rPr>
              <a:t>Flip and shift</a:t>
            </a:r>
            <a:endParaRPr lang="en-US" sz="1500" dirty="0"/>
          </a:p>
        </p:txBody>
      </p:sp>
      <p:sp>
        <p:nvSpPr>
          <p:cNvPr id="14" name="Text 12"/>
          <p:cNvSpPr txBox="1"/>
          <p:nvPr/>
        </p:nvSpPr>
        <p:spPr>
          <a:xfrm>
            <a:off x="6400800" y="2651760"/>
            <a:ext cx="2514600" cy="1051560"/>
          </a:xfrm>
          <a:prstGeom prst="rect">
            <a:avLst/>
          </a:prstGeom>
          <a:noFill/>
          <a:ln/>
        </p:spPr>
        <p:txBody>
          <a:bodyPr wrap="square" lIns="0" tIns="0" rIns="0" bIns="0" rtlCol="0" anchor="ctr"/>
          <a:lstStyle/>
          <a:p>
            <a:pPr indent="0" marL="0">
              <a:buNone/>
            </a:pPr>
            <a:r>
              <a:rPr lang="en-US" sz="1300" dirty="0">
                <a:solidFill>
                  <a:srgbClr val="5C656B"/>
                </a:solidFill>
                <a:latin typeface="Calibri" pitchFamily="34" charset="0"/>
                <a:ea typeface="Calibri" pitchFamily="34" charset="-122"/>
                <a:cs typeface="Calibri" pitchFamily="34" charset="-120"/>
              </a:rPr>
              <a:t>Slightly worse than the</a:t>
            </a:r>
            <a:endParaRPr lang="en-US" sz="1300" dirty="0"/>
          </a:p>
          <a:p>
            <a:pPr indent="0" marL="0">
              <a:buNone/>
            </a:pPr>
            <a:r>
              <a:rPr lang="en-US" sz="1300" dirty="0">
                <a:solidFill>
                  <a:srgbClr val="5C656B"/>
                </a:solidFill>
                <a:latin typeface="Calibri" pitchFamily="34" charset="0"/>
                <a:ea typeface="Calibri" pitchFamily="34" charset="-122"/>
                <a:cs typeface="Calibri" pitchFamily="34" charset="-120"/>
              </a:rPr>
              <a:t>frozen run. Augmentation</a:t>
            </a:r>
            <a:endParaRPr lang="en-US" sz="1300" dirty="0"/>
          </a:p>
          <a:p>
            <a:pPr indent="0" marL="0">
              <a:buNone/>
            </a:pPr>
            <a:r>
              <a:rPr lang="en-US" sz="1300" dirty="0">
                <a:solidFill>
                  <a:srgbClr val="5C656B"/>
                </a:solidFill>
                <a:latin typeface="Calibri" pitchFamily="34" charset="0"/>
                <a:ea typeface="Calibri" pitchFamily="34" charset="-122"/>
                <a:cs typeface="Calibri" pitchFamily="34" charset="-120"/>
              </a:rPr>
              <a:t>did not buy accuracy.</a:t>
            </a:r>
            <a:endParaRPr lang="en-US" sz="1300" dirty="0"/>
          </a:p>
        </p:txBody>
      </p:sp>
      <p:sp>
        <p:nvSpPr>
          <p:cNvPr id="15" name="Shape 13"/>
          <p:cNvSpPr/>
          <p:nvPr/>
        </p:nvSpPr>
        <p:spPr>
          <a:xfrm>
            <a:off x="9189720" y="1051560"/>
            <a:ext cx="2788920" cy="2880360"/>
          </a:xfrm>
          <a:prstGeom prst="roundRect">
            <a:avLst>
              <a:gd name="adj" fmla="val 2623"/>
            </a:avLst>
          </a:prstGeom>
          <a:solidFill>
            <a:srgbClr val="F3F5F6"/>
          </a:solidFill>
          <a:ln/>
        </p:spPr>
      </p:sp>
      <p:sp>
        <p:nvSpPr>
          <p:cNvPr id="16" name="Text 14"/>
          <p:cNvSpPr txBox="1"/>
          <p:nvPr/>
        </p:nvSpPr>
        <p:spPr>
          <a:xfrm>
            <a:off x="9326880" y="1234440"/>
            <a:ext cx="2514600" cy="640080"/>
          </a:xfrm>
          <a:prstGeom prst="rect">
            <a:avLst/>
          </a:prstGeom>
          <a:noFill/>
          <a:ln/>
        </p:spPr>
        <p:txBody>
          <a:bodyPr wrap="square" lIns="0" tIns="0" rIns="0" bIns="0" rtlCol="0" anchor="ctr"/>
          <a:lstStyle/>
          <a:p>
            <a:pPr indent="0" marL="0">
              <a:buNone/>
            </a:pPr>
            <a:r>
              <a:rPr lang="en-US" sz="2800" b="1" dirty="0">
                <a:solidFill>
                  <a:srgbClr val="1F4E5F"/>
                </a:solidFill>
                <a:latin typeface="Cambria" pitchFamily="34" charset="0"/>
                <a:ea typeface="Cambria" pitchFamily="34" charset="-122"/>
                <a:cs typeface="Cambria" pitchFamily="34" charset="-120"/>
              </a:rPr>
              <a:t>98.46%</a:t>
            </a:r>
            <a:endParaRPr lang="en-US" sz="2800" dirty="0"/>
          </a:p>
        </p:txBody>
      </p:sp>
      <p:sp>
        <p:nvSpPr>
          <p:cNvPr id="17" name="Text 15"/>
          <p:cNvSpPr txBox="1"/>
          <p:nvPr/>
        </p:nvSpPr>
        <p:spPr>
          <a:xfrm>
            <a:off x="9326880" y="1965960"/>
            <a:ext cx="2514600" cy="640080"/>
          </a:xfrm>
          <a:prstGeom prst="rect">
            <a:avLst/>
          </a:prstGeom>
          <a:noFill/>
          <a:ln/>
        </p:spPr>
        <p:txBody>
          <a:bodyPr wrap="square" lIns="0" tIns="0" rIns="0" bIns="0" rtlCol="0" anchor="ctr"/>
          <a:lstStyle/>
          <a:p>
            <a:pPr indent="0" marL="0">
              <a:buNone/>
            </a:pPr>
            <a:r>
              <a:rPr lang="en-US" sz="1500" b="1" dirty="0">
                <a:solidFill>
                  <a:srgbClr val="1F2428"/>
                </a:solidFill>
                <a:latin typeface="Calibri" pitchFamily="34" charset="0"/>
                <a:ea typeface="Calibri" pitchFamily="34" charset="-122"/>
                <a:cs typeface="Calibri" pitchFamily="34" charset="-120"/>
              </a:rPr>
              <a:t>Frozen InceptionV3</a:t>
            </a:r>
            <a:endParaRPr lang="en-US" sz="1500" dirty="0"/>
          </a:p>
        </p:txBody>
      </p:sp>
      <p:sp>
        <p:nvSpPr>
          <p:cNvPr id="18" name="Text 16"/>
          <p:cNvSpPr txBox="1"/>
          <p:nvPr/>
        </p:nvSpPr>
        <p:spPr>
          <a:xfrm>
            <a:off x="9326880" y="2651760"/>
            <a:ext cx="2514600" cy="1051560"/>
          </a:xfrm>
          <a:prstGeom prst="rect">
            <a:avLst/>
          </a:prstGeom>
          <a:noFill/>
          <a:ln/>
        </p:spPr>
        <p:txBody>
          <a:bodyPr wrap="square" lIns="0" tIns="0" rIns="0" bIns="0" rtlCol="0" anchor="ctr"/>
          <a:lstStyle/>
          <a:p>
            <a:pPr indent="0" marL="0">
              <a:buNone/>
            </a:pPr>
            <a:r>
              <a:rPr lang="en-US" sz="1300" dirty="0">
                <a:solidFill>
                  <a:srgbClr val="5C656B"/>
                </a:solidFill>
                <a:latin typeface="Calibri" pitchFamily="34" charset="0"/>
                <a:ea typeface="Calibri" pitchFamily="34" charset="-122"/>
                <a:cs typeface="Calibri" pitchFamily="34" charset="-120"/>
              </a:rPr>
              <a:t>The paper's winner.</a:t>
            </a:r>
            <a:endParaRPr lang="en-US" sz="1300" dirty="0"/>
          </a:p>
          <a:p>
            <a:pPr indent="0" marL="0">
              <a:buNone/>
            </a:pPr>
            <a:r>
              <a:rPr lang="en-US" sz="1300" dirty="0">
                <a:solidFill>
                  <a:srgbClr val="5C656B"/>
                </a:solidFill>
                <a:latin typeface="Calibri" pitchFamily="34" charset="0"/>
                <a:ea typeface="Calibri" pitchFamily="34" charset="-122"/>
                <a:cs typeface="Calibri" pitchFamily="34" charset="-120"/>
              </a:rPr>
              <a:t>Here it is behind MobileNet.</a:t>
            </a:r>
            <a:endParaRPr lang="en-US" sz="1300" dirty="0"/>
          </a:p>
        </p:txBody>
      </p:sp>
      <p:sp>
        <p:nvSpPr>
          <p:cNvPr id="19" name="Text 17"/>
          <p:cNvSpPr txBox="1"/>
          <p:nvPr/>
        </p:nvSpPr>
        <p:spPr>
          <a:xfrm>
            <a:off x="457200" y="4160520"/>
            <a:ext cx="11247120" cy="1005840"/>
          </a:xfrm>
          <a:prstGeom prst="rect">
            <a:avLst/>
          </a:prstGeom>
          <a:noFill/>
          <a:ln/>
        </p:spPr>
        <p:txBody>
          <a:bodyPr wrap="square" lIns="0" tIns="0" rIns="0" bIns="0" rtlCol="0" anchor="ctr"/>
          <a:lstStyle/>
          <a:p>
            <a:pPr indent="0" marL="0">
              <a:buNone/>
            </a:pPr>
            <a:r>
              <a:rPr lang="en-US" sz="1600" dirty="0">
                <a:solidFill>
                  <a:srgbClr val="1F2428"/>
                </a:solidFill>
                <a:latin typeface="Calibri" pitchFamily="34" charset="0"/>
                <a:ea typeface="Calibri" pitchFamily="34" charset="-122"/>
                <a:cs typeface="Calibri" pitchFamily="34" charset="-120"/>
              </a:rPr>
              <a:t>The feature SVM reaches 99.96% on 2,400 test photos, with one false damaged call and no missed crack. Gamma 0.03 was the best value in the grid, and validation was still rising, so we have not shown it is the peak.</a:t>
            </a:r>
            <a:endParaRPr lang="en-US" sz="1600" dirty="0"/>
          </a:p>
        </p:txBody>
      </p:sp>
      <p:sp>
        <p:nvSpPr>
          <p:cNvPr id="20" name="Text 18"/>
          <p:cNvSpPr txBox="1"/>
          <p:nvPr/>
        </p:nvSpPr>
        <p:spPr>
          <a:xfrm>
            <a:off x="457200" y="5303520"/>
            <a:ext cx="11247120" cy="731520"/>
          </a:xfrm>
          <a:prstGeom prst="rect">
            <a:avLst/>
          </a:prstGeom>
          <a:noFill/>
          <a:ln/>
        </p:spPr>
        <p:txBody>
          <a:bodyPr wrap="square" lIns="0" tIns="0" rIns="0" bIns="0" rtlCol="0" anchor="ctr"/>
          <a:lstStyle/>
          <a:p>
            <a:pPr indent="0" marL="0">
              <a:buNone/>
            </a:pPr>
            <a:r>
              <a:rPr lang="en-US" sz="1800" b="1" dirty="0">
                <a:solidFill>
                  <a:srgbClr val="1F4E5F"/>
                </a:solidFill>
                <a:latin typeface="Calibri" pitchFamily="34" charset="0"/>
                <a:ea typeface="Calibri" pitchFamily="34" charset="-122"/>
                <a:cs typeface="Calibri" pitchFamily="34" charset="-120"/>
              </a:rPr>
              <a:t>Demo model, chosen only by validation accuracy: that SVM. python demo.py</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2428"/>
        </a:solidFill>
      </p:bgPr>
    </p:bg>
    <p:spTree>
      <p:nvGrpSpPr>
        <p:cNvPr id="1" name=""/>
        <p:cNvGrpSpPr/>
        <p:nvPr/>
      </p:nvGrpSpPr>
      <p:grpSpPr>
        <a:xfrm>
          <a:off x="0" y="0"/>
          <a:ext cx="0" cy="0"/>
          <a:chOff x="0" y="0"/>
          <a:chExt cx="0" cy="0"/>
        </a:xfrm>
      </p:grpSpPr>
      <p:sp>
        <p:nvSpPr>
          <p:cNvPr id="2" name="Text 0"/>
          <p:cNvSpPr txBox="1"/>
          <p:nvPr/>
        </p:nvSpPr>
        <p:spPr>
          <a:xfrm>
            <a:off x="502920" y="365760"/>
            <a:ext cx="10972800" cy="5029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 can say</a:t>
            </a:r>
            <a:endParaRPr lang="en-US" sz="3200" dirty="0"/>
          </a:p>
        </p:txBody>
      </p:sp>
      <p:sp>
        <p:nvSpPr>
          <p:cNvPr id="3" name="Text 1"/>
          <p:cNvSpPr txBox="1"/>
          <p:nvPr/>
        </p:nvSpPr>
        <p:spPr>
          <a:xfrm>
            <a:off x="502920" y="1097280"/>
            <a:ext cx="2834640" cy="411480"/>
          </a:xfrm>
          <a:prstGeom prst="rect">
            <a:avLst/>
          </a:prstGeom>
          <a:noFill/>
          <a:ln/>
        </p:spPr>
        <p:txBody>
          <a:bodyPr wrap="square" lIns="0" tIns="0" rIns="0" bIns="0" rtlCol="0" anchor="ctr"/>
          <a:lstStyle/>
          <a:p>
            <a:pPr indent="0" marL="0">
              <a:buNone/>
            </a:pPr>
            <a:r>
              <a:rPr lang="en-US" sz="1600" b="1" dirty="0">
                <a:solidFill>
                  <a:srgbClr val="E7B89A"/>
                </a:solidFill>
                <a:latin typeface="Calibri" pitchFamily="34" charset="0"/>
                <a:ea typeface="Calibri" pitchFamily="34" charset="-122"/>
                <a:cs typeface="Calibri" pitchFamily="34" charset="-120"/>
              </a:rPr>
              <a:t>Supported</a:t>
            </a:r>
            <a:endParaRPr lang="en-US" sz="1600" dirty="0"/>
          </a:p>
        </p:txBody>
      </p:sp>
      <p:sp>
        <p:nvSpPr>
          <p:cNvPr id="4" name="Text 2"/>
          <p:cNvSpPr txBox="1"/>
          <p:nvPr/>
        </p:nvSpPr>
        <p:spPr>
          <a:xfrm>
            <a:off x="3383280" y="1097280"/>
            <a:ext cx="8229600" cy="11887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On these close-ups, a model that sees local structure beats a flat pixel vector. The gap is from about 93% (pixel SVM) to about 99.7% (unfrozen MobileNet) on their own test counts.</a:t>
            </a:r>
            <a:endParaRPr lang="en-US" sz="1600" dirty="0"/>
          </a:p>
        </p:txBody>
      </p:sp>
      <p:sp>
        <p:nvSpPr>
          <p:cNvPr id="5" name="Text 3"/>
          <p:cNvSpPr txBox="1"/>
          <p:nvPr/>
        </p:nvSpPr>
        <p:spPr>
          <a:xfrm>
            <a:off x="502920" y="2514600"/>
            <a:ext cx="2834640" cy="411480"/>
          </a:xfrm>
          <a:prstGeom prst="rect">
            <a:avLst/>
          </a:prstGeom>
          <a:noFill/>
          <a:ln/>
        </p:spPr>
        <p:txBody>
          <a:bodyPr wrap="square" lIns="0" tIns="0" rIns="0" bIns="0" rtlCol="0" anchor="ctr"/>
          <a:lstStyle/>
          <a:p>
            <a:pPr indent="0" marL="0">
              <a:buNone/>
            </a:pPr>
            <a:r>
              <a:rPr lang="en-US" sz="1600" b="1" dirty="0">
                <a:solidFill>
                  <a:srgbClr val="E7B89A"/>
                </a:solidFill>
                <a:latin typeface="Calibri" pitchFamily="34" charset="0"/>
                <a:ea typeface="Calibri" pitchFamily="34" charset="-122"/>
                <a:cs typeface="Calibri" pitchFamily="34" charset="-120"/>
              </a:rPr>
              <a:t>Not this dataset</a:t>
            </a:r>
            <a:endParaRPr lang="en-US" sz="1600" dirty="0"/>
          </a:p>
        </p:txBody>
      </p:sp>
      <p:sp>
        <p:nvSpPr>
          <p:cNvPr id="6" name="Text 4"/>
          <p:cNvSpPr txBox="1"/>
          <p:nvPr/>
        </p:nvSpPr>
        <p:spPr>
          <a:xfrm>
            <a:off x="3383280" y="2514600"/>
            <a:ext cx="8229600" cy="11887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paper's classical models near 50% do not show up here. Crack close-ups are easier than PEER's wide shots, clutter, and bad labels.</a:t>
            </a:r>
            <a:endParaRPr lang="en-US" sz="1600" dirty="0"/>
          </a:p>
        </p:txBody>
      </p:sp>
      <p:sp>
        <p:nvSpPr>
          <p:cNvPr id="7" name="Text 5"/>
          <p:cNvSpPr txBox="1"/>
          <p:nvPr/>
        </p:nvSpPr>
        <p:spPr>
          <a:xfrm>
            <a:off x="502920" y="3931920"/>
            <a:ext cx="2834640" cy="411480"/>
          </a:xfrm>
          <a:prstGeom prst="rect">
            <a:avLst/>
          </a:prstGeom>
          <a:noFill/>
          <a:ln/>
        </p:spPr>
        <p:txBody>
          <a:bodyPr wrap="square" lIns="0" tIns="0" rIns="0" bIns="0" rtlCol="0" anchor="ctr"/>
          <a:lstStyle/>
          <a:p>
            <a:pPr indent="0" marL="0">
              <a:buNone/>
            </a:pPr>
            <a:r>
              <a:rPr lang="en-US" sz="1600" b="1" dirty="0">
                <a:solidFill>
                  <a:srgbClr val="E7B89A"/>
                </a:solidFill>
                <a:latin typeface="Calibri" pitchFamily="34" charset="0"/>
                <a:ea typeface="Calibri" pitchFamily="34" charset="-122"/>
                <a:cs typeface="Calibri" pitchFamily="34" charset="-120"/>
              </a:rPr>
              <a:t>Not a general winner</a:t>
            </a:r>
            <a:endParaRPr lang="en-US" sz="1600" dirty="0"/>
          </a:p>
        </p:txBody>
      </p:sp>
      <p:sp>
        <p:nvSpPr>
          <p:cNvPr id="8" name="Text 6"/>
          <p:cNvSpPr txBox="1"/>
          <p:nvPr/>
        </p:nvSpPr>
        <p:spPr>
          <a:xfrm>
            <a:off x="3383280" y="3931920"/>
            <a:ext cx="8229600" cy="11887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InceptionV3 is not the best network in this run. One dataset does not crown an architecture.</a:t>
            </a:r>
            <a:endParaRPr lang="en-US" sz="1600" dirty="0"/>
          </a:p>
        </p:txBody>
      </p:sp>
      <p:sp>
        <p:nvSpPr>
          <p:cNvPr id="9" name="Text 7"/>
          <p:cNvSpPr txBox="1"/>
          <p:nvPr/>
        </p:nvSpPr>
        <p:spPr>
          <a:xfrm>
            <a:off x="502920" y="5989320"/>
            <a:ext cx="10972800" cy="365760"/>
          </a:xfrm>
          <a:prstGeom prst="rect">
            <a:avLst/>
          </a:prstGeom>
          <a:noFill/>
          <a:ln/>
        </p:spPr>
        <p:txBody>
          <a:bodyPr wrap="square" lIns="0" tIns="0" rIns="0" bIns="0" rtlCol="0" anchor="ctr"/>
          <a:lstStyle/>
          <a:p>
            <a:pPr indent="0" marL="0">
              <a:buNone/>
            </a:pPr>
            <a:r>
              <a:rPr lang="en-US" sz="1600" dirty="0">
                <a:solidFill>
                  <a:srgbClr val="D7D3CC"/>
                </a:solidFill>
                <a:latin typeface="Calibri" pitchFamily="34" charset="0"/>
                <a:ea typeface="Calibri" pitchFamily="34" charset="-122"/>
                <a:cs typeface="Calibri" pitchFamily="34" charset="-120"/>
              </a:rPr>
              <a:t>python train.py     then     python demo.py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Structural Damage Image Classification</dc:title>
  <dc:subject>UE24CS352A Team 16 Project 31</dc:subject>
  <dc:creator>Dhruva Myakeri and Navya Suresh</dc:creator>
  <cp:lastModifiedBy>Dhruva Myakeri and Navya Suresh</cp:lastModifiedBy>
  <cp:revision>1</cp:revision>
  <dcterms:created xsi:type="dcterms:W3CDTF">2026-10-03T12:16:20Z</dcterms:created>
  <dcterms:modified xsi:type="dcterms:W3CDTF">2026-10-03T12:16:20Z</dcterms:modified>
</cp:coreProperties>
</file>